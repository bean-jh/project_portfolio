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15" r:id="rId48"/>
    <p:sldId id="302" r:id="rId49"/>
    <p:sldId id="303" r:id="rId50"/>
    <p:sldId id="304" r:id="rId51"/>
    <p:sldId id="305" r:id="rId52"/>
    <p:sldId id="306" r:id="rId53"/>
    <p:sldId id="307" r:id="rId54"/>
    <p:sldId id="310" r:id="rId55"/>
    <p:sldId id="311" r:id="rId56"/>
  </p:sldIdLst>
  <p:sldSz cx="24384000" cy="13716000"/>
  <p:notesSz cx="6858000" cy="9144000"/>
  <p:embeddedFontLst>
    <p:embeddedFont>
      <p:font typeface="Pretendard Medium" panose="020B0600000101010101" charset="-127"/>
      <p:bold r:id="rId58"/>
    </p:embeddedFont>
    <p:embeddedFont>
      <p:font typeface="Pretendard Regular" panose="020B0600000101010101" charset="-127"/>
      <p:regular r:id="rId59"/>
    </p:embeddedFont>
    <p:embeddedFont>
      <p:font typeface="Pretendard SemiBold" panose="020B0600000101010101" charset="-127"/>
      <p:bold r:id="rId60"/>
    </p:embeddedFont>
    <p:embeddedFont>
      <p:font typeface="Calibri" panose="020F0502020204030204" pitchFamily="34" charset="0"/>
      <p:regular r:id="rId61"/>
      <p:bold r:id="rId62"/>
      <p:italic r:id="rId63"/>
      <p:boldItalic r:id="rId64"/>
    </p:embeddedFont>
    <p:embeddedFont>
      <p:font typeface="맑은 고딕" panose="020B0503020000020004" pitchFamily="50" charset="-127"/>
      <p:regular r:id="rId65"/>
      <p:bold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4564" autoAdjust="0"/>
  </p:normalViewPr>
  <p:slideViewPr>
    <p:cSldViewPr>
      <p:cViewPr varScale="1">
        <p:scale>
          <a:sx n="61" d="100"/>
          <a:sy n="61" d="100"/>
        </p:scale>
        <p:origin x="177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A822D6-8174-4211-BB80-600CAA890D82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A1A31-E0DE-4F59-BD63-1020019C27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525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303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65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828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151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651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682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506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478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096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718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480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669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487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845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600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633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8815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7633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6104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0411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3713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3789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993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5445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7451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4531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1819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830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3469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2655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5420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7958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1290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876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안녕하십니까 </a:t>
            </a:r>
            <a:r>
              <a:rPr lang="en-US" altLang="ko-KR" dirty="0"/>
              <a:t>Azure </a:t>
            </a:r>
            <a:r>
              <a:rPr lang="ko-KR" altLang="en-US" dirty="0"/>
              <a:t>설계 파트를 맡은 김진호입니다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화면에 나와있는 구성도에 대한 간략한 설명을 하겠습니다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:</a:t>
            </a:r>
            <a:r>
              <a:rPr lang="ko-KR" altLang="en-US" dirty="0"/>
              <a:t>외부 요청은 </a:t>
            </a:r>
            <a:r>
              <a:rPr lang="en-US" altLang="ko-KR" dirty="0" err="1"/>
              <a:t>AppGw</a:t>
            </a:r>
            <a:r>
              <a:rPr lang="ko-KR" altLang="en-US" baseline="0" dirty="0"/>
              <a:t>를 통해 </a:t>
            </a:r>
            <a:r>
              <a:rPr lang="en-US" altLang="ko-KR" baseline="0" dirty="0"/>
              <a:t>Private Subnet</a:t>
            </a:r>
            <a:r>
              <a:rPr lang="ko-KR" altLang="en-US" baseline="0" dirty="0"/>
              <a:t>의 </a:t>
            </a:r>
            <a:r>
              <a:rPr lang="en-US" altLang="ko-KR" baseline="0" dirty="0"/>
              <a:t>VM</a:t>
            </a:r>
            <a:r>
              <a:rPr lang="ko-KR" altLang="en-US" baseline="0" dirty="0"/>
              <a:t>으로 전달되고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운영접근은</a:t>
            </a:r>
            <a:r>
              <a:rPr lang="ko-KR" altLang="en-US" baseline="0" dirty="0"/>
              <a:t> </a:t>
            </a:r>
            <a:r>
              <a:rPr lang="en-US" altLang="ko-KR" baseline="0" dirty="0"/>
              <a:t>Bastion Host</a:t>
            </a:r>
            <a:r>
              <a:rPr lang="ko-KR" altLang="en-US" baseline="0" dirty="0"/>
              <a:t>로만 허용됩니다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이를 통해</a:t>
            </a:r>
            <a:r>
              <a:rPr lang="en-US" altLang="ko-KR" baseline="0" dirty="0"/>
              <a:t> </a:t>
            </a:r>
            <a:r>
              <a:rPr lang="ko-KR" altLang="en-US" baseline="0" dirty="0"/>
              <a:t>서비스 영역을 명확히 분리한 구조입니다</a:t>
            </a:r>
            <a:r>
              <a:rPr lang="en-US" altLang="ko-KR" baseline="0" dirty="0"/>
              <a:t>.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1621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◆이번 프로젝트는 멀티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클라우드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기반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환경이기 때문에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리소스를 어떻게 묶어서 관리하느냐가 굉장히 중요했습니다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◆그래서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모든 리소스를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Group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단위로 묶어 하나의 논리적인 단위로 관리했습니다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◆이렇게 구성하면 배포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장애 대응 시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리소스를 한 번에 관리할 수 있고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Terraform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통한 자동화에도 매우 유리한 구조가 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잠깐 멈춤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“이제 이 인프라 위에 실제 서비스가 어떻게 연결되는지 볼게요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8443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“다음은 애플리케이션과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스토리지를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연결하는 단계입니다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웹 서비스에서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Blob Storage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사용하기 위해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Composer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Storage SDK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설치했습니다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◆이 단계는 단순한 설치가 아닌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웹 서비스가 실제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클라우드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리소스와 연동되기 시작하는 지점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◆이후부터는 코드 레벨에서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스토리지 접근과 파일 업로드가 가능해집니다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5227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스토리지 계정 설정에서는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파일 제공이라는 서비스 특성을 고려했습니다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Blob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파일은 익명 읽기를 허용했지만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dirty="0"/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강제 적용을 통해 전송 구간 보안을 확보했고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무작정 공개하는 구조는 피했습니다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◆즉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접근은 허용하되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 통제는 유지하는 방식으로 설계했습니다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잠깐 멈춤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“그럼 이제 이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스토리지를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왜 이런 방식으로 구성했는지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비용 관점에서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5328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“이번 서비스는 데이터 자체보다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비용 효율성이 더 중요한 구조였습니다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◆그래서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Storage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이중화 옵션 중</a:t>
            </a:r>
            <a:r>
              <a:rPr lang="ko-KR" altLang="en-US" dirty="0"/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LRS,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로컬 이중화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스토리지를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선택했습니다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고가용성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대신 비용을 절감하고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장애 대응은 멀티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클라우드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구조로 해결했습니다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◆이로써 스토리지 비용을 줄이면서도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서비스 안정성은 유지할 수 있었습니다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7091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“다음은 보안과 운영 편의성을 고려한 설정입니다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◆스토리지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Account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정보와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코드에 직접 작성하지 않고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 환경 변수로 관리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Apache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설정을 통해 환경 변수를 등록하고 서버를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재시작하는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방식으로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보안을 강화하면서 설정 변경 시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수정이 필요 없도록 구성했습니다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6008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차원에서도 보안 통제를 적용했습니다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에는 기본적으로</a:t>
            </a:r>
            <a:r>
              <a:rPr lang="ko-KR" altLang="en-US" dirty="0"/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Access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제한하는 정책이 존재합니다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 저희는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모드를 적용해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허용된 접근이 언제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리소스에서 발생했는지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추적 가능하도록 구성했습니다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 이로써 운영 중에도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 상태를 지속적으로 확인할 수 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0543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“다만 서비스 특성상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제공을 위해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Blob Public Access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필수였습니다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 그래서 정책을 제거하지 않고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dirty="0"/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Exemption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기능을 사용해 필요한 리소스만 예외 처리했습니다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 이 방식은 보안 정책의 원칙을 유지하면서도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 요구사항을 충족할 수 있다는 장점이 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8413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“마지막으로 실제 접근 범위 설정입니다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</a:p>
          <a:p>
            <a:endParaRPr lang="en-US" altLang="ko-KR" dirty="0"/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 컨테이너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access level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</a:t>
            </a:r>
            <a:r>
              <a:rPr lang="ko-KR" altLang="en-US" dirty="0"/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Blob only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설정해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알고 있는 경우에만 접근 가능하도록 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 컨테이너 전체 조회는 차단되어 있어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무분별한 접근은 불가능합니다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 결과적으로 보안과 서비스 요구사항을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균형 있게 만족시키는 구조입니다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◆ </a:t>
            </a:r>
            <a:r>
              <a:rPr lang="ko-KR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마무리 </a:t>
            </a:r>
            <a:r>
              <a:rPr lang="ko-KR" alt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멘트</a:t>
            </a:r>
            <a:r>
              <a:rPr lang="ko-KR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이상으로 설명 마치고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페이지 구현 파트를 맡은 안종범 팀원이 이어서 발표하겠습니다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6107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0972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8139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0933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7464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05830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96270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2134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13513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88947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97061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86986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A1A31-E0DE-4F59-BD63-1020019C2716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03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6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26" Type="http://schemas.openxmlformats.org/officeDocument/2006/relationships/image" Target="../media/image64.png"/><Relationship Id="rId3" Type="http://schemas.openxmlformats.org/officeDocument/2006/relationships/image" Target="../media/image1.png"/><Relationship Id="rId21" Type="http://schemas.openxmlformats.org/officeDocument/2006/relationships/image" Target="../media/image59.png"/><Relationship Id="rId7" Type="http://schemas.openxmlformats.org/officeDocument/2006/relationships/image" Target="../media/image29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5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49.png"/><Relationship Id="rId24" Type="http://schemas.openxmlformats.org/officeDocument/2006/relationships/image" Target="../media/image62.png"/><Relationship Id="rId5" Type="http://schemas.openxmlformats.org/officeDocument/2006/relationships/image" Target="../media/image28.png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6.png"/><Relationship Id="rId9" Type="http://schemas.openxmlformats.org/officeDocument/2006/relationships/image" Target="../media/image31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" Type="http://schemas.openxmlformats.org/officeDocument/2006/relationships/image" Target="../media/image1.png"/><Relationship Id="rId21" Type="http://schemas.openxmlformats.org/officeDocument/2006/relationships/image" Target="../media/image78.png"/><Relationship Id="rId7" Type="http://schemas.openxmlformats.org/officeDocument/2006/relationships/image" Target="../media/image68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45.png"/><Relationship Id="rId5" Type="http://schemas.openxmlformats.org/officeDocument/2006/relationships/image" Target="../media/image66.png"/><Relationship Id="rId15" Type="http://schemas.openxmlformats.org/officeDocument/2006/relationships/image" Target="../media/image72.png"/><Relationship Id="rId23" Type="http://schemas.openxmlformats.org/officeDocument/2006/relationships/image" Target="../media/image80.png"/><Relationship Id="rId10" Type="http://schemas.openxmlformats.org/officeDocument/2006/relationships/image" Target="../media/image32.png"/><Relationship Id="rId19" Type="http://schemas.openxmlformats.org/officeDocument/2006/relationships/image" Target="../media/image76.png"/><Relationship Id="rId4" Type="http://schemas.openxmlformats.org/officeDocument/2006/relationships/image" Target="../media/image65.png"/><Relationship Id="rId9" Type="http://schemas.openxmlformats.org/officeDocument/2006/relationships/image" Target="../media/image31.png"/><Relationship Id="rId14" Type="http://schemas.openxmlformats.org/officeDocument/2006/relationships/image" Target="../media/image71.png"/><Relationship Id="rId22" Type="http://schemas.openxmlformats.org/officeDocument/2006/relationships/image" Target="../media/image7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" Type="http://schemas.openxmlformats.org/officeDocument/2006/relationships/image" Target="../media/image1.png"/><Relationship Id="rId21" Type="http://schemas.openxmlformats.org/officeDocument/2006/relationships/image" Target="../media/image97.png"/><Relationship Id="rId7" Type="http://schemas.openxmlformats.org/officeDocument/2006/relationships/image" Target="../media/image84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24" Type="http://schemas.openxmlformats.org/officeDocument/2006/relationships/image" Target="../media/image100.png"/><Relationship Id="rId5" Type="http://schemas.openxmlformats.org/officeDocument/2006/relationships/image" Target="../media/image82.png"/><Relationship Id="rId15" Type="http://schemas.openxmlformats.org/officeDocument/2006/relationships/image" Target="../media/image91.png"/><Relationship Id="rId23" Type="http://schemas.openxmlformats.org/officeDocument/2006/relationships/image" Target="../media/image99.png"/><Relationship Id="rId10" Type="http://schemas.openxmlformats.org/officeDocument/2006/relationships/image" Target="../media/image86.png"/><Relationship Id="rId19" Type="http://schemas.openxmlformats.org/officeDocument/2006/relationships/image" Target="../media/image95.png"/><Relationship Id="rId4" Type="http://schemas.openxmlformats.org/officeDocument/2006/relationships/image" Target="../media/image81.png"/><Relationship Id="rId9" Type="http://schemas.openxmlformats.org/officeDocument/2006/relationships/image" Target="../media/image31.png"/><Relationship Id="rId14" Type="http://schemas.openxmlformats.org/officeDocument/2006/relationships/image" Target="../media/image90.png"/><Relationship Id="rId22" Type="http://schemas.openxmlformats.org/officeDocument/2006/relationships/image" Target="../media/image9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1.png"/><Relationship Id="rId21" Type="http://schemas.openxmlformats.org/officeDocument/2006/relationships/image" Target="../media/image99.png"/><Relationship Id="rId7" Type="http://schemas.openxmlformats.org/officeDocument/2006/relationships/image" Target="../media/image101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03.png"/><Relationship Id="rId5" Type="http://schemas.openxmlformats.org/officeDocument/2006/relationships/image" Target="../media/image28.png"/><Relationship Id="rId15" Type="http://schemas.openxmlformats.org/officeDocument/2006/relationships/image" Target="../media/image107.png"/><Relationship Id="rId10" Type="http://schemas.openxmlformats.org/officeDocument/2006/relationships/image" Target="../media/image86.png"/><Relationship Id="rId19" Type="http://schemas.openxmlformats.org/officeDocument/2006/relationships/image" Target="../media/image111.png"/><Relationship Id="rId4" Type="http://schemas.openxmlformats.org/officeDocument/2006/relationships/image" Target="../media/image65.png"/><Relationship Id="rId9" Type="http://schemas.openxmlformats.org/officeDocument/2006/relationships/image" Target="../media/image31.png"/><Relationship Id="rId14" Type="http://schemas.openxmlformats.org/officeDocument/2006/relationships/image" Target="../media/image106.png"/><Relationship Id="rId22" Type="http://schemas.openxmlformats.org/officeDocument/2006/relationships/image" Target="../media/image1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.png"/><Relationship Id="rId21" Type="http://schemas.openxmlformats.org/officeDocument/2006/relationships/image" Target="../media/image125.png"/><Relationship Id="rId7" Type="http://schemas.openxmlformats.org/officeDocument/2006/relationships/image" Target="../media/image114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103.png"/><Relationship Id="rId5" Type="http://schemas.openxmlformats.org/officeDocument/2006/relationships/image" Target="../media/image66.png"/><Relationship Id="rId15" Type="http://schemas.openxmlformats.org/officeDocument/2006/relationships/image" Target="../media/image119.png"/><Relationship Id="rId10" Type="http://schemas.openxmlformats.org/officeDocument/2006/relationships/image" Target="../media/image86.png"/><Relationship Id="rId19" Type="http://schemas.openxmlformats.org/officeDocument/2006/relationships/image" Target="../media/image123.png"/><Relationship Id="rId4" Type="http://schemas.openxmlformats.org/officeDocument/2006/relationships/image" Target="../media/image65.png"/><Relationship Id="rId9" Type="http://schemas.openxmlformats.org/officeDocument/2006/relationships/image" Target="../media/image31.png"/><Relationship Id="rId14" Type="http://schemas.openxmlformats.org/officeDocument/2006/relationships/image" Target="../media/image1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129.png"/><Relationship Id="rId17" Type="http://schemas.openxmlformats.org/officeDocument/2006/relationships/image" Target="../media/image13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128.png"/><Relationship Id="rId5" Type="http://schemas.openxmlformats.org/officeDocument/2006/relationships/image" Target="../media/image28.png"/><Relationship Id="rId15" Type="http://schemas.openxmlformats.org/officeDocument/2006/relationships/image" Target="../media/image132.png"/><Relationship Id="rId10" Type="http://schemas.openxmlformats.org/officeDocument/2006/relationships/image" Target="../media/image86.png"/><Relationship Id="rId4" Type="http://schemas.openxmlformats.org/officeDocument/2006/relationships/image" Target="../media/image126.png"/><Relationship Id="rId9" Type="http://schemas.openxmlformats.org/officeDocument/2006/relationships/image" Target="../media/image31.png"/><Relationship Id="rId14" Type="http://schemas.openxmlformats.org/officeDocument/2006/relationships/image" Target="../media/image1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2.png"/><Relationship Id="rId3" Type="http://schemas.openxmlformats.org/officeDocument/2006/relationships/image" Target="../media/image1.png"/><Relationship Id="rId7" Type="http://schemas.openxmlformats.org/officeDocument/2006/relationships/image" Target="../media/image137.png"/><Relationship Id="rId12" Type="http://schemas.openxmlformats.org/officeDocument/2006/relationships/image" Target="../media/image14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40.png"/><Relationship Id="rId5" Type="http://schemas.openxmlformats.org/officeDocument/2006/relationships/image" Target="../media/image82.png"/><Relationship Id="rId15" Type="http://schemas.openxmlformats.org/officeDocument/2006/relationships/image" Target="../media/image144.png"/><Relationship Id="rId10" Type="http://schemas.openxmlformats.org/officeDocument/2006/relationships/image" Target="../media/image86.png"/><Relationship Id="rId4" Type="http://schemas.openxmlformats.org/officeDocument/2006/relationships/image" Target="../media/image136.png"/><Relationship Id="rId9" Type="http://schemas.openxmlformats.org/officeDocument/2006/relationships/image" Target="../media/image139.png"/><Relationship Id="rId14" Type="http://schemas.openxmlformats.org/officeDocument/2006/relationships/image" Target="../media/image1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1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11" Type="http://schemas.openxmlformats.org/officeDocument/2006/relationships/image" Target="../media/image148.png"/><Relationship Id="rId5" Type="http://schemas.openxmlformats.org/officeDocument/2006/relationships/image" Target="../media/image66.png"/><Relationship Id="rId10" Type="http://schemas.openxmlformats.org/officeDocument/2006/relationships/image" Target="../media/image86.png"/><Relationship Id="rId4" Type="http://schemas.openxmlformats.org/officeDocument/2006/relationships/image" Target="../media/image27.png"/><Relationship Id="rId9" Type="http://schemas.openxmlformats.org/officeDocument/2006/relationships/image" Target="../media/image1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1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150.png"/><Relationship Id="rId17" Type="http://schemas.openxmlformats.org/officeDocument/2006/relationships/image" Target="../media/image15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49.png"/><Relationship Id="rId5" Type="http://schemas.openxmlformats.org/officeDocument/2006/relationships/image" Target="../media/image46.png"/><Relationship Id="rId15" Type="http://schemas.openxmlformats.org/officeDocument/2006/relationships/image" Target="../media/image153.png"/><Relationship Id="rId10" Type="http://schemas.openxmlformats.org/officeDocument/2006/relationships/image" Target="../media/image149.png"/><Relationship Id="rId4" Type="http://schemas.openxmlformats.org/officeDocument/2006/relationships/image" Target="../media/image101.png"/><Relationship Id="rId9" Type="http://schemas.openxmlformats.org/officeDocument/2006/relationships/image" Target="../media/image31.png"/><Relationship Id="rId14" Type="http://schemas.openxmlformats.org/officeDocument/2006/relationships/image" Target="../media/image15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58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157.png"/><Relationship Id="rId5" Type="http://schemas.openxmlformats.org/officeDocument/2006/relationships/image" Target="../media/image126.png"/><Relationship Id="rId15" Type="http://schemas.openxmlformats.org/officeDocument/2006/relationships/image" Target="../media/image160.png"/><Relationship Id="rId10" Type="http://schemas.openxmlformats.org/officeDocument/2006/relationships/image" Target="../media/image156.png"/><Relationship Id="rId4" Type="http://schemas.openxmlformats.org/officeDocument/2006/relationships/image" Target="../media/image137.png"/><Relationship Id="rId9" Type="http://schemas.openxmlformats.org/officeDocument/2006/relationships/image" Target="../media/image31.png"/><Relationship Id="rId14" Type="http://schemas.openxmlformats.org/officeDocument/2006/relationships/image" Target="../media/image1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5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16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49.png"/><Relationship Id="rId5" Type="http://schemas.openxmlformats.org/officeDocument/2006/relationships/image" Target="../media/image46.png"/><Relationship Id="rId15" Type="http://schemas.openxmlformats.org/officeDocument/2006/relationships/image" Target="../media/image160.png"/><Relationship Id="rId10" Type="http://schemas.openxmlformats.org/officeDocument/2006/relationships/image" Target="../media/image103.png"/><Relationship Id="rId4" Type="http://schemas.openxmlformats.org/officeDocument/2006/relationships/image" Target="../media/image162.png"/><Relationship Id="rId9" Type="http://schemas.openxmlformats.org/officeDocument/2006/relationships/image" Target="../media/image24.png"/><Relationship Id="rId14" Type="http://schemas.openxmlformats.org/officeDocument/2006/relationships/image" Target="../media/image1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2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12" Type="http://schemas.openxmlformats.org/officeDocument/2006/relationships/image" Target="../media/image17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49.png"/><Relationship Id="rId5" Type="http://schemas.openxmlformats.org/officeDocument/2006/relationships/image" Target="../media/image126.png"/><Relationship Id="rId15" Type="http://schemas.openxmlformats.org/officeDocument/2006/relationships/image" Target="../media/image160.png"/><Relationship Id="rId10" Type="http://schemas.openxmlformats.org/officeDocument/2006/relationships/image" Target="../media/image170.png"/><Relationship Id="rId4" Type="http://schemas.openxmlformats.org/officeDocument/2006/relationships/image" Target="../media/image167.png"/><Relationship Id="rId9" Type="http://schemas.openxmlformats.org/officeDocument/2006/relationships/image" Target="../media/image31.png"/><Relationship Id="rId14" Type="http://schemas.openxmlformats.org/officeDocument/2006/relationships/image" Target="../media/image1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76.pn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12" Type="http://schemas.openxmlformats.org/officeDocument/2006/relationships/image" Target="../media/image175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49.png"/><Relationship Id="rId5" Type="http://schemas.openxmlformats.org/officeDocument/2006/relationships/image" Target="../media/image126.png"/><Relationship Id="rId15" Type="http://schemas.openxmlformats.org/officeDocument/2006/relationships/image" Target="../media/image160.png"/><Relationship Id="rId10" Type="http://schemas.openxmlformats.org/officeDocument/2006/relationships/image" Target="../media/image174.png"/><Relationship Id="rId4" Type="http://schemas.openxmlformats.org/officeDocument/2006/relationships/image" Target="../media/image137.png"/><Relationship Id="rId9" Type="http://schemas.openxmlformats.org/officeDocument/2006/relationships/image" Target="../media/image139.png"/><Relationship Id="rId14" Type="http://schemas.openxmlformats.org/officeDocument/2006/relationships/image" Target="../media/image17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13" Type="http://schemas.openxmlformats.org/officeDocument/2006/relationships/image" Target="../media/image180.pn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12" Type="http://schemas.openxmlformats.org/officeDocument/2006/relationships/image" Target="../media/image179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49.png"/><Relationship Id="rId5" Type="http://schemas.openxmlformats.org/officeDocument/2006/relationships/image" Target="../media/image65.png"/><Relationship Id="rId15" Type="http://schemas.openxmlformats.org/officeDocument/2006/relationships/image" Target="../media/image160.png"/><Relationship Id="rId10" Type="http://schemas.openxmlformats.org/officeDocument/2006/relationships/image" Target="../media/image178.png"/><Relationship Id="rId4" Type="http://schemas.openxmlformats.org/officeDocument/2006/relationships/image" Target="../media/image101.png"/><Relationship Id="rId9" Type="http://schemas.openxmlformats.org/officeDocument/2006/relationships/image" Target="../media/image31.png"/><Relationship Id="rId14" Type="http://schemas.openxmlformats.org/officeDocument/2006/relationships/image" Target="../media/image18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83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164.png"/><Relationship Id="rId17" Type="http://schemas.openxmlformats.org/officeDocument/2006/relationships/image" Target="../media/image185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49.png"/><Relationship Id="rId5" Type="http://schemas.openxmlformats.org/officeDocument/2006/relationships/image" Target="../media/image81.png"/><Relationship Id="rId15" Type="http://schemas.openxmlformats.org/officeDocument/2006/relationships/image" Target="../media/image160.png"/><Relationship Id="rId10" Type="http://schemas.openxmlformats.org/officeDocument/2006/relationships/image" Target="../media/image87.png"/><Relationship Id="rId4" Type="http://schemas.openxmlformats.org/officeDocument/2006/relationships/image" Target="../media/image182.png"/><Relationship Id="rId9" Type="http://schemas.openxmlformats.org/officeDocument/2006/relationships/image" Target="../media/image139.png"/><Relationship Id="rId14" Type="http://schemas.openxmlformats.org/officeDocument/2006/relationships/image" Target="../media/image18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13" Type="http://schemas.openxmlformats.org/officeDocument/2006/relationships/image" Target="../media/image189.png"/><Relationship Id="rId3" Type="http://schemas.openxmlformats.org/officeDocument/2006/relationships/image" Target="../media/image1.png"/><Relationship Id="rId7" Type="http://schemas.openxmlformats.org/officeDocument/2006/relationships/image" Target="../media/image186.png"/><Relationship Id="rId12" Type="http://schemas.openxmlformats.org/officeDocument/2006/relationships/image" Target="../media/image17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49.png"/><Relationship Id="rId5" Type="http://schemas.openxmlformats.org/officeDocument/2006/relationships/image" Target="../media/image65.png"/><Relationship Id="rId15" Type="http://schemas.openxmlformats.org/officeDocument/2006/relationships/image" Target="../media/image160.png"/><Relationship Id="rId10" Type="http://schemas.openxmlformats.org/officeDocument/2006/relationships/image" Target="../media/image188.png"/><Relationship Id="rId4" Type="http://schemas.openxmlformats.org/officeDocument/2006/relationships/image" Target="../media/image84.png"/><Relationship Id="rId9" Type="http://schemas.openxmlformats.org/officeDocument/2006/relationships/image" Target="../media/image139.png"/><Relationship Id="rId14" Type="http://schemas.openxmlformats.org/officeDocument/2006/relationships/image" Target="../media/image19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16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164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49.png"/><Relationship Id="rId5" Type="http://schemas.openxmlformats.org/officeDocument/2006/relationships/image" Target="../media/image192.png"/><Relationship Id="rId15" Type="http://schemas.openxmlformats.org/officeDocument/2006/relationships/image" Target="../media/image194.png"/><Relationship Id="rId10" Type="http://schemas.openxmlformats.org/officeDocument/2006/relationships/image" Target="../media/image50.png"/><Relationship Id="rId4" Type="http://schemas.openxmlformats.org/officeDocument/2006/relationships/image" Target="../media/image191.png"/><Relationship Id="rId9" Type="http://schemas.openxmlformats.org/officeDocument/2006/relationships/image" Target="../media/image31.png"/><Relationship Id="rId14" Type="http://schemas.openxmlformats.org/officeDocument/2006/relationships/image" Target="../media/image16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199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164.png"/><Relationship Id="rId17" Type="http://schemas.openxmlformats.org/officeDocument/2006/relationships/image" Target="../media/image185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49.png"/><Relationship Id="rId5" Type="http://schemas.openxmlformats.org/officeDocument/2006/relationships/image" Target="../media/image46.png"/><Relationship Id="rId15" Type="http://schemas.openxmlformats.org/officeDocument/2006/relationships/image" Target="../media/image160.png"/><Relationship Id="rId10" Type="http://schemas.openxmlformats.org/officeDocument/2006/relationships/image" Target="../media/image198.png"/><Relationship Id="rId4" Type="http://schemas.openxmlformats.org/officeDocument/2006/relationships/image" Target="../media/image196.png"/><Relationship Id="rId9" Type="http://schemas.openxmlformats.org/officeDocument/2006/relationships/image" Target="../media/image139.png"/><Relationship Id="rId14" Type="http://schemas.openxmlformats.org/officeDocument/2006/relationships/image" Target="../media/image2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20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164.png"/><Relationship Id="rId17" Type="http://schemas.openxmlformats.org/officeDocument/2006/relationships/image" Target="../media/image185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png"/><Relationship Id="rId11" Type="http://schemas.openxmlformats.org/officeDocument/2006/relationships/image" Target="../media/image49.png"/><Relationship Id="rId5" Type="http://schemas.openxmlformats.org/officeDocument/2006/relationships/image" Target="../media/image65.png"/><Relationship Id="rId15" Type="http://schemas.openxmlformats.org/officeDocument/2006/relationships/image" Target="../media/image160.png"/><Relationship Id="rId10" Type="http://schemas.openxmlformats.org/officeDocument/2006/relationships/image" Target="../media/image204.png"/><Relationship Id="rId4" Type="http://schemas.openxmlformats.org/officeDocument/2006/relationships/image" Target="../media/image201.png"/><Relationship Id="rId9" Type="http://schemas.openxmlformats.org/officeDocument/2006/relationships/image" Target="../media/image31.png"/><Relationship Id="rId14" Type="http://schemas.openxmlformats.org/officeDocument/2006/relationships/image" Target="../media/image20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208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12" Type="http://schemas.openxmlformats.org/officeDocument/2006/relationships/image" Target="../media/image207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49.png"/><Relationship Id="rId5" Type="http://schemas.openxmlformats.org/officeDocument/2006/relationships/image" Target="../media/image192.png"/><Relationship Id="rId15" Type="http://schemas.openxmlformats.org/officeDocument/2006/relationships/image" Target="../media/image160.png"/><Relationship Id="rId10" Type="http://schemas.openxmlformats.org/officeDocument/2006/relationships/image" Target="../media/image50.png"/><Relationship Id="rId4" Type="http://schemas.openxmlformats.org/officeDocument/2006/relationships/image" Target="../media/image201.png"/><Relationship Id="rId9" Type="http://schemas.openxmlformats.org/officeDocument/2006/relationships/image" Target="../media/image24.png"/><Relationship Id="rId14" Type="http://schemas.openxmlformats.org/officeDocument/2006/relationships/image" Target="../media/image20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214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12" Type="http://schemas.openxmlformats.org/officeDocument/2006/relationships/image" Target="../media/image179.png"/><Relationship Id="rId17" Type="http://schemas.openxmlformats.org/officeDocument/2006/relationships/image" Target="../media/image185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1.png"/><Relationship Id="rId11" Type="http://schemas.openxmlformats.org/officeDocument/2006/relationships/image" Target="../media/image49.png"/><Relationship Id="rId5" Type="http://schemas.openxmlformats.org/officeDocument/2006/relationships/image" Target="../media/image65.png"/><Relationship Id="rId15" Type="http://schemas.openxmlformats.org/officeDocument/2006/relationships/image" Target="../media/image160.png"/><Relationship Id="rId10" Type="http://schemas.openxmlformats.org/officeDocument/2006/relationships/image" Target="../media/image213.png"/><Relationship Id="rId4" Type="http://schemas.openxmlformats.org/officeDocument/2006/relationships/image" Target="../media/image210.png"/><Relationship Id="rId9" Type="http://schemas.openxmlformats.org/officeDocument/2006/relationships/image" Target="../media/image31.png"/><Relationship Id="rId14" Type="http://schemas.openxmlformats.org/officeDocument/2006/relationships/image" Target="../media/image21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13" Type="http://schemas.openxmlformats.org/officeDocument/2006/relationships/image" Target="../media/image218.png"/><Relationship Id="rId3" Type="http://schemas.openxmlformats.org/officeDocument/2006/relationships/image" Target="../media/image1.png"/><Relationship Id="rId7" Type="http://schemas.openxmlformats.org/officeDocument/2006/relationships/image" Target="../media/image216.png"/><Relationship Id="rId12" Type="http://schemas.openxmlformats.org/officeDocument/2006/relationships/image" Target="../media/image171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png"/><Relationship Id="rId11" Type="http://schemas.openxmlformats.org/officeDocument/2006/relationships/image" Target="../media/image49.png"/><Relationship Id="rId5" Type="http://schemas.openxmlformats.org/officeDocument/2006/relationships/image" Target="../media/image27.png"/><Relationship Id="rId15" Type="http://schemas.openxmlformats.org/officeDocument/2006/relationships/image" Target="../media/image160.png"/><Relationship Id="rId10" Type="http://schemas.openxmlformats.org/officeDocument/2006/relationships/image" Target="../media/image217.png"/><Relationship Id="rId4" Type="http://schemas.openxmlformats.org/officeDocument/2006/relationships/image" Target="../media/image162.png"/><Relationship Id="rId9" Type="http://schemas.openxmlformats.org/officeDocument/2006/relationships/image" Target="../media/image24.png"/><Relationship Id="rId14" Type="http://schemas.openxmlformats.org/officeDocument/2006/relationships/image" Target="../media/image21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223.png"/><Relationship Id="rId3" Type="http://schemas.openxmlformats.org/officeDocument/2006/relationships/image" Target="../media/image1.png"/><Relationship Id="rId7" Type="http://schemas.openxmlformats.org/officeDocument/2006/relationships/image" Target="../media/image221.png"/><Relationship Id="rId12" Type="http://schemas.openxmlformats.org/officeDocument/2006/relationships/image" Target="../media/image222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49.png"/><Relationship Id="rId5" Type="http://schemas.openxmlformats.org/officeDocument/2006/relationships/image" Target="../media/image136.png"/><Relationship Id="rId15" Type="http://schemas.openxmlformats.org/officeDocument/2006/relationships/image" Target="../media/image160.png"/><Relationship Id="rId10" Type="http://schemas.openxmlformats.org/officeDocument/2006/relationships/image" Target="../media/image50.png"/><Relationship Id="rId4" Type="http://schemas.openxmlformats.org/officeDocument/2006/relationships/image" Target="../media/image220.png"/><Relationship Id="rId9" Type="http://schemas.openxmlformats.org/officeDocument/2006/relationships/image" Target="../media/image24.png"/><Relationship Id="rId14" Type="http://schemas.openxmlformats.org/officeDocument/2006/relationships/image" Target="../media/image22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13" Type="http://schemas.openxmlformats.org/officeDocument/2006/relationships/image" Target="../media/image229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12" Type="http://schemas.openxmlformats.org/officeDocument/2006/relationships/image" Target="../media/image207.png"/><Relationship Id="rId17" Type="http://schemas.openxmlformats.org/officeDocument/2006/relationships/image" Target="../media/image185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6.png"/><Relationship Id="rId11" Type="http://schemas.openxmlformats.org/officeDocument/2006/relationships/image" Target="../media/image49.png"/><Relationship Id="rId5" Type="http://schemas.openxmlformats.org/officeDocument/2006/relationships/image" Target="../media/image225.png"/><Relationship Id="rId15" Type="http://schemas.openxmlformats.org/officeDocument/2006/relationships/image" Target="../media/image160.png"/><Relationship Id="rId10" Type="http://schemas.openxmlformats.org/officeDocument/2006/relationships/image" Target="../media/image228.png"/><Relationship Id="rId4" Type="http://schemas.openxmlformats.org/officeDocument/2006/relationships/image" Target="../media/image210.png"/><Relationship Id="rId9" Type="http://schemas.openxmlformats.org/officeDocument/2006/relationships/image" Target="../media/image31.png"/><Relationship Id="rId14" Type="http://schemas.openxmlformats.org/officeDocument/2006/relationships/image" Target="../media/image23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13" Type="http://schemas.openxmlformats.org/officeDocument/2006/relationships/image" Target="../media/image233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12" Type="http://schemas.openxmlformats.org/officeDocument/2006/relationships/image" Target="../media/image20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49.png"/><Relationship Id="rId5" Type="http://schemas.openxmlformats.org/officeDocument/2006/relationships/image" Target="../media/image126.png"/><Relationship Id="rId15" Type="http://schemas.openxmlformats.org/officeDocument/2006/relationships/image" Target="../media/image234.png"/><Relationship Id="rId10" Type="http://schemas.openxmlformats.org/officeDocument/2006/relationships/image" Target="../media/image232.png"/><Relationship Id="rId4" Type="http://schemas.openxmlformats.org/officeDocument/2006/relationships/image" Target="../media/image101.png"/><Relationship Id="rId9" Type="http://schemas.openxmlformats.org/officeDocument/2006/relationships/image" Target="../media/image31.png"/><Relationship Id="rId14" Type="http://schemas.openxmlformats.org/officeDocument/2006/relationships/image" Target="../media/image17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13" Type="http://schemas.openxmlformats.org/officeDocument/2006/relationships/image" Target="../media/image237.pn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12" Type="http://schemas.openxmlformats.org/officeDocument/2006/relationships/image" Target="../media/image171.png"/><Relationship Id="rId17" Type="http://schemas.openxmlformats.org/officeDocument/2006/relationships/image" Target="../media/image185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49.png"/><Relationship Id="rId5" Type="http://schemas.openxmlformats.org/officeDocument/2006/relationships/image" Target="../media/image46.png"/><Relationship Id="rId15" Type="http://schemas.openxmlformats.org/officeDocument/2006/relationships/image" Target="../media/image160.png"/><Relationship Id="rId10" Type="http://schemas.openxmlformats.org/officeDocument/2006/relationships/image" Target="../media/image103.png"/><Relationship Id="rId4" Type="http://schemas.openxmlformats.org/officeDocument/2006/relationships/image" Target="../media/image235.png"/><Relationship Id="rId9" Type="http://schemas.openxmlformats.org/officeDocument/2006/relationships/image" Target="../media/image31.png"/><Relationship Id="rId14" Type="http://schemas.openxmlformats.org/officeDocument/2006/relationships/image" Target="../media/image23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241.pn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12" Type="http://schemas.openxmlformats.org/officeDocument/2006/relationships/image" Target="../media/image171.png"/><Relationship Id="rId17" Type="http://schemas.openxmlformats.org/officeDocument/2006/relationships/image" Target="../media/image185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49.png"/><Relationship Id="rId5" Type="http://schemas.openxmlformats.org/officeDocument/2006/relationships/image" Target="../media/image65.png"/><Relationship Id="rId15" Type="http://schemas.openxmlformats.org/officeDocument/2006/relationships/image" Target="../media/image160.png"/><Relationship Id="rId10" Type="http://schemas.openxmlformats.org/officeDocument/2006/relationships/image" Target="../media/image217.png"/><Relationship Id="rId4" Type="http://schemas.openxmlformats.org/officeDocument/2006/relationships/image" Target="../media/image239.png"/><Relationship Id="rId9" Type="http://schemas.openxmlformats.org/officeDocument/2006/relationships/image" Target="../media/image31.png"/><Relationship Id="rId14" Type="http://schemas.openxmlformats.org/officeDocument/2006/relationships/image" Target="../media/image24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13" Type="http://schemas.openxmlformats.org/officeDocument/2006/relationships/image" Target="../media/image245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164.png"/><Relationship Id="rId17" Type="http://schemas.openxmlformats.org/officeDocument/2006/relationships/image" Target="../media/image249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2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49.png"/><Relationship Id="rId5" Type="http://schemas.openxmlformats.org/officeDocument/2006/relationships/image" Target="../media/image46.png"/><Relationship Id="rId15" Type="http://schemas.openxmlformats.org/officeDocument/2006/relationships/image" Target="../media/image247.png"/><Relationship Id="rId10" Type="http://schemas.openxmlformats.org/officeDocument/2006/relationships/image" Target="../media/image103.png"/><Relationship Id="rId4" Type="http://schemas.openxmlformats.org/officeDocument/2006/relationships/image" Target="../media/image243.png"/><Relationship Id="rId9" Type="http://schemas.openxmlformats.org/officeDocument/2006/relationships/image" Target="../media/image31.png"/><Relationship Id="rId14" Type="http://schemas.openxmlformats.org/officeDocument/2006/relationships/image" Target="../media/image24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13" Type="http://schemas.openxmlformats.org/officeDocument/2006/relationships/image" Target="../media/image254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179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2.png"/><Relationship Id="rId11" Type="http://schemas.openxmlformats.org/officeDocument/2006/relationships/image" Target="../media/image49.png"/><Relationship Id="rId5" Type="http://schemas.openxmlformats.org/officeDocument/2006/relationships/image" Target="../media/image251.png"/><Relationship Id="rId15" Type="http://schemas.openxmlformats.org/officeDocument/2006/relationships/image" Target="../media/image160.png"/><Relationship Id="rId10" Type="http://schemas.openxmlformats.org/officeDocument/2006/relationships/image" Target="../media/image87.png"/><Relationship Id="rId4" Type="http://schemas.openxmlformats.org/officeDocument/2006/relationships/image" Target="../media/image250.png"/><Relationship Id="rId9" Type="http://schemas.openxmlformats.org/officeDocument/2006/relationships/image" Target="../media/image139.png"/><Relationship Id="rId14" Type="http://schemas.openxmlformats.org/officeDocument/2006/relationships/image" Target="../media/image25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13" Type="http://schemas.openxmlformats.org/officeDocument/2006/relationships/image" Target="../media/image259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17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7.png"/><Relationship Id="rId11" Type="http://schemas.openxmlformats.org/officeDocument/2006/relationships/image" Target="../media/image49.png"/><Relationship Id="rId5" Type="http://schemas.openxmlformats.org/officeDocument/2006/relationships/image" Target="../media/image27.png"/><Relationship Id="rId10" Type="http://schemas.openxmlformats.org/officeDocument/2006/relationships/image" Target="../media/image50.png"/><Relationship Id="rId4" Type="http://schemas.openxmlformats.org/officeDocument/2006/relationships/image" Target="../media/image256.png"/><Relationship Id="rId9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png"/><Relationship Id="rId13" Type="http://schemas.openxmlformats.org/officeDocument/2006/relationships/image" Target="../media/image263.png"/><Relationship Id="rId3" Type="http://schemas.openxmlformats.org/officeDocument/2006/relationships/image" Target="../media/image1.png"/><Relationship Id="rId7" Type="http://schemas.openxmlformats.org/officeDocument/2006/relationships/image" Target="../media/image261.png"/><Relationship Id="rId12" Type="http://schemas.openxmlformats.org/officeDocument/2006/relationships/image" Target="../media/image164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png"/><Relationship Id="rId11" Type="http://schemas.openxmlformats.org/officeDocument/2006/relationships/image" Target="../media/image49.png"/><Relationship Id="rId5" Type="http://schemas.openxmlformats.org/officeDocument/2006/relationships/image" Target="../media/image81.png"/><Relationship Id="rId15" Type="http://schemas.openxmlformats.org/officeDocument/2006/relationships/image" Target="../media/image265.png"/><Relationship Id="rId10" Type="http://schemas.openxmlformats.org/officeDocument/2006/relationships/image" Target="../media/image188.png"/><Relationship Id="rId4" Type="http://schemas.openxmlformats.org/officeDocument/2006/relationships/image" Target="../media/image260.png"/><Relationship Id="rId9" Type="http://schemas.openxmlformats.org/officeDocument/2006/relationships/image" Target="../media/image31.png"/><Relationship Id="rId14" Type="http://schemas.openxmlformats.org/officeDocument/2006/relationships/image" Target="../media/image26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3" Type="http://schemas.openxmlformats.org/officeDocument/2006/relationships/image" Target="../media/image266.png"/><Relationship Id="rId7" Type="http://schemas.openxmlformats.org/officeDocument/2006/relationships/image" Target="../media/image27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9.png"/><Relationship Id="rId5" Type="http://schemas.openxmlformats.org/officeDocument/2006/relationships/image" Target="../media/image268.png"/><Relationship Id="rId4" Type="http://schemas.openxmlformats.org/officeDocument/2006/relationships/image" Target="../media/image267.png"/><Relationship Id="rId9" Type="http://schemas.openxmlformats.org/officeDocument/2006/relationships/image" Target="../media/image27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13" Type="http://schemas.openxmlformats.org/officeDocument/2006/relationships/image" Target="../media/image27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27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49.png"/><Relationship Id="rId5" Type="http://schemas.openxmlformats.org/officeDocument/2006/relationships/image" Target="../media/image65.png"/><Relationship Id="rId10" Type="http://schemas.openxmlformats.org/officeDocument/2006/relationships/image" Target="../media/image273.png"/><Relationship Id="rId4" Type="http://schemas.openxmlformats.org/officeDocument/2006/relationships/image" Target="../media/image235.png"/><Relationship Id="rId9" Type="http://schemas.openxmlformats.org/officeDocument/2006/relationships/image" Target="../media/image31.png"/><Relationship Id="rId14" Type="http://schemas.openxmlformats.org/officeDocument/2006/relationships/image" Target="../media/image27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png"/><Relationship Id="rId13" Type="http://schemas.openxmlformats.org/officeDocument/2006/relationships/image" Target="../media/image281.pn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12" Type="http://schemas.openxmlformats.org/officeDocument/2006/relationships/image" Target="../media/image28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49.png"/><Relationship Id="rId5" Type="http://schemas.openxmlformats.org/officeDocument/2006/relationships/image" Target="../media/image277.png"/><Relationship Id="rId10" Type="http://schemas.openxmlformats.org/officeDocument/2006/relationships/image" Target="../media/image279.png"/><Relationship Id="rId4" Type="http://schemas.openxmlformats.org/officeDocument/2006/relationships/image" Target="../media/image167.png"/><Relationship Id="rId9" Type="http://schemas.openxmlformats.org/officeDocument/2006/relationships/image" Target="../media/image31.png"/><Relationship Id="rId14" Type="http://schemas.openxmlformats.org/officeDocument/2006/relationships/image" Target="../media/image28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13" Type="http://schemas.openxmlformats.org/officeDocument/2006/relationships/image" Target="../media/image284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12" Type="http://schemas.openxmlformats.org/officeDocument/2006/relationships/image" Target="../media/image28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49.png"/><Relationship Id="rId5" Type="http://schemas.openxmlformats.org/officeDocument/2006/relationships/image" Target="../media/image126.png"/><Relationship Id="rId10" Type="http://schemas.openxmlformats.org/officeDocument/2006/relationships/image" Target="../media/image50.png"/><Relationship Id="rId4" Type="http://schemas.openxmlformats.org/officeDocument/2006/relationships/image" Target="../media/image283.png"/><Relationship Id="rId9" Type="http://schemas.openxmlformats.org/officeDocument/2006/relationships/image" Target="../media/image139.png"/><Relationship Id="rId14" Type="http://schemas.openxmlformats.org/officeDocument/2006/relationships/image" Target="../media/image28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28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17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49.png"/><Relationship Id="rId5" Type="http://schemas.openxmlformats.org/officeDocument/2006/relationships/image" Target="../media/image65.png"/><Relationship Id="rId10" Type="http://schemas.openxmlformats.org/officeDocument/2006/relationships/image" Target="../media/image286.png"/><Relationship Id="rId4" Type="http://schemas.openxmlformats.org/officeDocument/2006/relationships/image" Target="../media/image250.png"/><Relationship Id="rId9" Type="http://schemas.openxmlformats.org/officeDocument/2006/relationships/image" Target="../media/image31.png"/><Relationship Id="rId14" Type="http://schemas.openxmlformats.org/officeDocument/2006/relationships/image" Target="../media/image28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292.pn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12" Type="http://schemas.openxmlformats.org/officeDocument/2006/relationships/image" Target="../media/image17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49.png"/><Relationship Id="rId5" Type="http://schemas.openxmlformats.org/officeDocument/2006/relationships/image" Target="../media/image65.png"/><Relationship Id="rId10" Type="http://schemas.openxmlformats.org/officeDocument/2006/relationships/image" Target="../media/image291.png"/><Relationship Id="rId4" Type="http://schemas.openxmlformats.org/officeDocument/2006/relationships/image" Target="../media/image289.png"/><Relationship Id="rId9" Type="http://schemas.openxmlformats.org/officeDocument/2006/relationships/image" Target="../media/image31.png"/><Relationship Id="rId14" Type="http://schemas.openxmlformats.org/officeDocument/2006/relationships/image" Target="../media/image29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png"/><Relationship Id="rId13" Type="http://schemas.openxmlformats.org/officeDocument/2006/relationships/image" Target="../media/image29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20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49.png"/><Relationship Id="rId5" Type="http://schemas.openxmlformats.org/officeDocument/2006/relationships/image" Target="../media/image126.png"/><Relationship Id="rId10" Type="http://schemas.openxmlformats.org/officeDocument/2006/relationships/image" Target="../media/image103.png"/><Relationship Id="rId4" Type="http://schemas.openxmlformats.org/officeDocument/2006/relationships/image" Target="../media/image210.png"/><Relationship Id="rId9" Type="http://schemas.openxmlformats.org/officeDocument/2006/relationships/image" Target="../media/image31.png"/><Relationship Id="rId14" Type="http://schemas.openxmlformats.org/officeDocument/2006/relationships/image" Target="../media/image29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png"/><Relationship Id="rId13" Type="http://schemas.openxmlformats.org/officeDocument/2006/relationships/image" Target="../media/image299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12" Type="http://schemas.openxmlformats.org/officeDocument/2006/relationships/image" Target="../media/image17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49.png"/><Relationship Id="rId5" Type="http://schemas.openxmlformats.org/officeDocument/2006/relationships/image" Target="../media/image126.png"/><Relationship Id="rId10" Type="http://schemas.openxmlformats.org/officeDocument/2006/relationships/image" Target="../media/image298.png"/><Relationship Id="rId4" Type="http://schemas.openxmlformats.org/officeDocument/2006/relationships/image" Target="../media/image235.png"/><Relationship Id="rId9" Type="http://schemas.openxmlformats.org/officeDocument/2006/relationships/image" Target="../media/image31.png"/><Relationship Id="rId14" Type="http://schemas.openxmlformats.org/officeDocument/2006/relationships/image" Target="../media/image30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275.png"/><Relationship Id="rId3" Type="http://schemas.openxmlformats.org/officeDocument/2006/relationships/image" Target="../media/image1.png"/><Relationship Id="rId7" Type="http://schemas.openxmlformats.org/officeDocument/2006/relationships/image" Target="../media/image302.png"/><Relationship Id="rId12" Type="http://schemas.openxmlformats.org/officeDocument/2006/relationships/image" Target="../media/image30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49.png"/><Relationship Id="rId5" Type="http://schemas.openxmlformats.org/officeDocument/2006/relationships/image" Target="../media/image2.png"/><Relationship Id="rId10" Type="http://schemas.openxmlformats.org/officeDocument/2006/relationships/image" Target="../media/image50.png"/><Relationship Id="rId4" Type="http://schemas.openxmlformats.org/officeDocument/2006/relationships/image" Target="../media/image301.png"/><Relationship Id="rId9" Type="http://schemas.openxmlformats.org/officeDocument/2006/relationships/image" Target="../media/image24.png"/><Relationship Id="rId14" Type="http://schemas.openxmlformats.org/officeDocument/2006/relationships/image" Target="../media/image30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png"/><Relationship Id="rId3" Type="http://schemas.openxmlformats.org/officeDocument/2006/relationships/image" Target="../media/image305.png"/><Relationship Id="rId7" Type="http://schemas.openxmlformats.org/officeDocument/2006/relationships/image" Target="../media/image27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5" Type="http://schemas.openxmlformats.org/officeDocument/2006/relationships/image" Target="../media/image306.png"/><Relationship Id="rId4" Type="http://schemas.openxmlformats.org/officeDocument/2006/relationships/image" Target="../media/image26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/><Relationship Id="rId13" Type="http://schemas.openxmlformats.org/officeDocument/2006/relationships/image" Target="../media/image313.png"/><Relationship Id="rId3" Type="http://schemas.openxmlformats.org/officeDocument/2006/relationships/image" Target="../media/image1.png"/><Relationship Id="rId7" Type="http://schemas.openxmlformats.org/officeDocument/2006/relationships/image" Target="../media/image147.png"/><Relationship Id="rId12" Type="http://schemas.openxmlformats.org/officeDocument/2006/relationships/image" Target="../media/image312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3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311.png"/><Relationship Id="rId5" Type="http://schemas.openxmlformats.org/officeDocument/2006/relationships/image" Target="../media/image82.png"/><Relationship Id="rId15" Type="http://schemas.openxmlformats.org/officeDocument/2006/relationships/image" Target="../media/image314.png"/><Relationship Id="rId10" Type="http://schemas.openxmlformats.org/officeDocument/2006/relationships/image" Target="../media/image310.png"/><Relationship Id="rId4" Type="http://schemas.openxmlformats.org/officeDocument/2006/relationships/image" Target="../media/image308.png"/><Relationship Id="rId9" Type="http://schemas.openxmlformats.org/officeDocument/2006/relationships/image" Target="../media/image31.png"/><Relationship Id="rId14" Type="http://schemas.openxmlformats.org/officeDocument/2006/relationships/image" Target="../media/image27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13" Type="http://schemas.openxmlformats.org/officeDocument/2006/relationships/image" Target="../media/image320.png"/><Relationship Id="rId18" Type="http://schemas.openxmlformats.org/officeDocument/2006/relationships/image" Target="../media/image324.png"/><Relationship Id="rId3" Type="http://schemas.openxmlformats.org/officeDocument/2006/relationships/image" Target="../media/image1.png"/><Relationship Id="rId7" Type="http://schemas.openxmlformats.org/officeDocument/2006/relationships/image" Target="../media/image147.png"/><Relationship Id="rId12" Type="http://schemas.openxmlformats.org/officeDocument/2006/relationships/image" Target="../media/image319.png"/><Relationship Id="rId17" Type="http://schemas.openxmlformats.org/officeDocument/2006/relationships/image" Target="../media/image323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3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6.png"/><Relationship Id="rId11" Type="http://schemas.openxmlformats.org/officeDocument/2006/relationships/image" Target="../media/image318.png"/><Relationship Id="rId5" Type="http://schemas.openxmlformats.org/officeDocument/2006/relationships/image" Target="../media/image66.png"/><Relationship Id="rId15" Type="http://schemas.openxmlformats.org/officeDocument/2006/relationships/image" Target="../media/image321.png"/><Relationship Id="rId10" Type="http://schemas.openxmlformats.org/officeDocument/2006/relationships/image" Target="../media/image310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14" Type="http://schemas.openxmlformats.org/officeDocument/2006/relationships/image" Target="../media/image30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/><Relationship Id="rId13" Type="http://schemas.openxmlformats.org/officeDocument/2006/relationships/image" Target="../media/image325.png"/><Relationship Id="rId3" Type="http://schemas.openxmlformats.org/officeDocument/2006/relationships/image" Target="../media/image1.png"/><Relationship Id="rId7" Type="http://schemas.openxmlformats.org/officeDocument/2006/relationships/image" Target="../media/image147.png"/><Relationship Id="rId12" Type="http://schemas.openxmlformats.org/officeDocument/2006/relationships/image" Target="../media/image315.png"/><Relationship Id="rId2" Type="http://schemas.openxmlformats.org/officeDocument/2006/relationships/notesSlide" Target="../notesSlides/notesSlide47.xml"/><Relationship Id="rId16" Type="http://schemas.openxmlformats.org/officeDocument/2006/relationships/image" Target="../media/image3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314.png"/><Relationship Id="rId5" Type="http://schemas.openxmlformats.org/officeDocument/2006/relationships/image" Target="../media/image82.png"/><Relationship Id="rId15" Type="http://schemas.openxmlformats.org/officeDocument/2006/relationships/image" Target="../media/image326.png"/><Relationship Id="rId10" Type="http://schemas.openxmlformats.org/officeDocument/2006/relationships/image" Target="../media/image310.png"/><Relationship Id="rId4" Type="http://schemas.openxmlformats.org/officeDocument/2006/relationships/image" Target="../media/image308.png"/><Relationship Id="rId9" Type="http://schemas.openxmlformats.org/officeDocument/2006/relationships/image" Target="../media/image31.png"/><Relationship Id="rId14" Type="http://schemas.openxmlformats.org/officeDocument/2006/relationships/image" Target="../media/image27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13" Type="http://schemas.openxmlformats.org/officeDocument/2006/relationships/image" Target="../media/image274.png"/><Relationship Id="rId3" Type="http://schemas.openxmlformats.org/officeDocument/2006/relationships/image" Target="../media/image1.png"/><Relationship Id="rId7" Type="http://schemas.openxmlformats.org/officeDocument/2006/relationships/image" Target="../media/image147.png"/><Relationship Id="rId12" Type="http://schemas.openxmlformats.org/officeDocument/2006/relationships/image" Target="../media/image330.png"/><Relationship Id="rId17" Type="http://schemas.openxmlformats.org/officeDocument/2006/relationships/image" Target="../media/image333.png"/><Relationship Id="rId2" Type="http://schemas.openxmlformats.org/officeDocument/2006/relationships/notesSlide" Target="../notesSlides/notesSlide48.xml"/><Relationship Id="rId16" Type="http://schemas.openxmlformats.org/officeDocument/2006/relationships/image" Target="../media/image3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329.png"/><Relationship Id="rId5" Type="http://schemas.openxmlformats.org/officeDocument/2006/relationships/image" Target="../media/image327.png"/><Relationship Id="rId15" Type="http://schemas.openxmlformats.org/officeDocument/2006/relationships/image" Target="../media/image331.png"/><Relationship Id="rId10" Type="http://schemas.openxmlformats.org/officeDocument/2006/relationships/image" Target="../media/image328.png"/><Relationship Id="rId4" Type="http://schemas.openxmlformats.org/officeDocument/2006/relationships/image" Target="../media/image46.png"/><Relationship Id="rId9" Type="http://schemas.openxmlformats.org/officeDocument/2006/relationships/image" Target="../media/image24.png"/><Relationship Id="rId14" Type="http://schemas.openxmlformats.org/officeDocument/2006/relationships/image" Target="../media/image15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png"/><Relationship Id="rId13" Type="http://schemas.openxmlformats.org/officeDocument/2006/relationships/image" Target="../media/image338.png"/><Relationship Id="rId3" Type="http://schemas.openxmlformats.org/officeDocument/2006/relationships/image" Target="../media/image1.png"/><Relationship Id="rId7" Type="http://schemas.openxmlformats.org/officeDocument/2006/relationships/image" Target="../media/image334.png"/><Relationship Id="rId12" Type="http://schemas.openxmlformats.org/officeDocument/2006/relationships/image" Target="../media/image3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274.png"/><Relationship Id="rId5" Type="http://schemas.openxmlformats.org/officeDocument/2006/relationships/image" Target="../media/image226.png"/><Relationship Id="rId15" Type="http://schemas.openxmlformats.org/officeDocument/2006/relationships/image" Target="../media/image339.png"/><Relationship Id="rId10" Type="http://schemas.openxmlformats.org/officeDocument/2006/relationships/image" Target="../media/image336.png"/><Relationship Id="rId4" Type="http://schemas.openxmlformats.org/officeDocument/2006/relationships/image" Target="../media/image225.png"/><Relationship Id="rId9" Type="http://schemas.openxmlformats.org/officeDocument/2006/relationships/image" Target="../media/image139.png"/><Relationship Id="rId14" Type="http://schemas.openxmlformats.org/officeDocument/2006/relationships/image" Target="../media/image15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13" Type="http://schemas.openxmlformats.org/officeDocument/2006/relationships/image" Target="../media/image303.png"/><Relationship Id="rId3" Type="http://schemas.openxmlformats.org/officeDocument/2006/relationships/image" Target="../media/image1.png"/><Relationship Id="rId7" Type="http://schemas.openxmlformats.org/officeDocument/2006/relationships/image" Target="../media/image147.png"/><Relationship Id="rId12" Type="http://schemas.openxmlformats.org/officeDocument/2006/relationships/image" Target="../media/image34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56.png"/><Relationship Id="rId5" Type="http://schemas.openxmlformats.org/officeDocument/2006/relationships/image" Target="../media/image66.png"/><Relationship Id="rId15" Type="http://schemas.openxmlformats.org/officeDocument/2006/relationships/image" Target="../media/image342.png"/><Relationship Id="rId10" Type="http://schemas.openxmlformats.org/officeDocument/2006/relationships/image" Target="../media/image310.png"/><Relationship Id="rId4" Type="http://schemas.openxmlformats.org/officeDocument/2006/relationships/image" Target="../media/image126.png"/><Relationship Id="rId9" Type="http://schemas.openxmlformats.org/officeDocument/2006/relationships/image" Target="../media/image31.png"/><Relationship Id="rId14" Type="http://schemas.openxmlformats.org/officeDocument/2006/relationships/image" Target="../media/image34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png"/><Relationship Id="rId13" Type="http://schemas.openxmlformats.org/officeDocument/2006/relationships/image" Target="../media/image347.png"/><Relationship Id="rId18" Type="http://schemas.openxmlformats.org/officeDocument/2006/relationships/image" Target="../media/image351.png"/><Relationship Id="rId3" Type="http://schemas.openxmlformats.org/officeDocument/2006/relationships/image" Target="../media/image1.png"/><Relationship Id="rId21" Type="http://schemas.openxmlformats.org/officeDocument/2006/relationships/image" Target="../media/image354.png"/><Relationship Id="rId7" Type="http://schemas.openxmlformats.org/officeDocument/2006/relationships/image" Target="../media/image343.png"/><Relationship Id="rId12" Type="http://schemas.openxmlformats.org/officeDocument/2006/relationships/image" Target="../media/image346.png"/><Relationship Id="rId17" Type="http://schemas.openxmlformats.org/officeDocument/2006/relationships/image" Target="../media/image350.png"/><Relationship Id="rId2" Type="http://schemas.openxmlformats.org/officeDocument/2006/relationships/notesSlide" Target="../notesSlides/notesSlide51.xml"/><Relationship Id="rId16" Type="http://schemas.openxmlformats.org/officeDocument/2006/relationships/image" Target="../media/image274.png"/><Relationship Id="rId20" Type="http://schemas.openxmlformats.org/officeDocument/2006/relationships/image" Target="../media/image3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345.png"/><Relationship Id="rId5" Type="http://schemas.openxmlformats.org/officeDocument/2006/relationships/image" Target="../media/image82.png"/><Relationship Id="rId15" Type="http://schemas.openxmlformats.org/officeDocument/2006/relationships/image" Target="../media/image349.png"/><Relationship Id="rId10" Type="http://schemas.openxmlformats.org/officeDocument/2006/relationships/image" Target="../media/image310.png"/><Relationship Id="rId19" Type="http://schemas.openxmlformats.org/officeDocument/2006/relationships/image" Target="../media/image35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14" Type="http://schemas.openxmlformats.org/officeDocument/2006/relationships/image" Target="../media/image348.png"/><Relationship Id="rId22" Type="http://schemas.openxmlformats.org/officeDocument/2006/relationships/image" Target="../media/image35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png"/><Relationship Id="rId13" Type="http://schemas.openxmlformats.org/officeDocument/2006/relationships/image" Target="../media/image359.png"/><Relationship Id="rId3" Type="http://schemas.openxmlformats.org/officeDocument/2006/relationships/image" Target="../media/image1.png"/><Relationship Id="rId7" Type="http://schemas.openxmlformats.org/officeDocument/2006/relationships/image" Target="../media/image162.png"/><Relationship Id="rId12" Type="http://schemas.openxmlformats.org/officeDocument/2006/relationships/image" Target="../media/image35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357.png"/><Relationship Id="rId5" Type="http://schemas.openxmlformats.org/officeDocument/2006/relationships/image" Target="../media/image66.png"/><Relationship Id="rId15" Type="http://schemas.openxmlformats.org/officeDocument/2006/relationships/image" Target="../media/image361.png"/><Relationship Id="rId10" Type="http://schemas.openxmlformats.org/officeDocument/2006/relationships/image" Target="../media/image328.png"/><Relationship Id="rId4" Type="http://schemas.openxmlformats.org/officeDocument/2006/relationships/image" Target="../media/image126.png"/><Relationship Id="rId9" Type="http://schemas.openxmlformats.org/officeDocument/2006/relationships/image" Target="../media/image24.png"/><Relationship Id="rId14" Type="http://schemas.openxmlformats.org/officeDocument/2006/relationships/image" Target="../media/image36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3.png"/><Relationship Id="rId13" Type="http://schemas.openxmlformats.org/officeDocument/2006/relationships/image" Target="../media/image366.png"/><Relationship Id="rId3" Type="http://schemas.openxmlformats.org/officeDocument/2006/relationships/image" Target="../media/image1.png"/><Relationship Id="rId7" Type="http://schemas.openxmlformats.org/officeDocument/2006/relationships/image" Target="../media/image137.png"/><Relationship Id="rId12" Type="http://schemas.openxmlformats.org/officeDocument/2006/relationships/image" Target="../media/image365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3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364.png"/><Relationship Id="rId5" Type="http://schemas.openxmlformats.org/officeDocument/2006/relationships/image" Target="../media/image362.png"/><Relationship Id="rId15" Type="http://schemas.openxmlformats.org/officeDocument/2006/relationships/image" Target="../media/image274.png"/><Relationship Id="rId10" Type="http://schemas.openxmlformats.org/officeDocument/2006/relationships/image" Target="../media/image328.png"/><Relationship Id="rId4" Type="http://schemas.openxmlformats.org/officeDocument/2006/relationships/image" Target="../media/image225.png"/><Relationship Id="rId9" Type="http://schemas.openxmlformats.org/officeDocument/2006/relationships/image" Target="../media/image24.png"/><Relationship Id="rId14" Type="http://schemas.openxmlformats.org/officeDocument/2006/relationships/image" Target="../media/image36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370.png"/><Relationship Id="rId18" Type="http://schemas.openxmlformats.org/officeDocument/2006/relationships/image" Target="../media/image375.png"/><Relationship Id="rId3" Type="http://schemas.openxmlformats.org/officeDocument/2006/relationships/image" Target="../media/image1.png"/><Relationship Id="rId7" Type="http://schemas.openxmlformats.org/officeDocument/2006/relationships/image" Target="../media/image147.png"/><Relationship Id="rId12" Type="http://schemas.openxmlformats.org/officeDocument/2006/relationships/image" Target="../media/image369.png"/><Relationship Id="rId17" Type="http://schemas.openxmlformats.org/officeDocument/2006/relationships/image" Target="../media/image374.png"/><Relationship Id="rId2" Type="http://schemas.openxmlformats.org/officeDocument/2006/relationships/notesSlide" Target="../notesSlides/notesSlide54.xml"/><Relationship Id="rId16" Type="http://schemas.openxmlformats.org/officeDocument/2006/relationships/image" Target="../media/image373.png"/><Relationship Id="rId20" Type="http://schemas.openxmlformats.org/officeDocument/2006/relationships/image" Target="../media/image3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45.png"/><Relationship Id="rId5" Type="http://schemas.openxmlformats.org/officeDocument/2006/relationships/image" Target="../media/image66.png"/><Relationship Id="rId15" Type="http://schemas.openxmlformats.org/officeDocument/2006/relationships/image" Target="../media/image372.png"/><Relationship Id="rId10" Type="http://schemas.openxmlformats.org/officeDocument/2006/relationships/image" Target="../media/image32.png"/><Relationship Id="rId19" Type="http://schemas.openxmlformats.org/officeDocument/2006/relationships/image" Target="../media/image376.png"/><Relationship Id="rId4" Type="http://schemas.openxmlformats.org/officeDocument/2006/relationships/image" Target="../media/image126.png"/><Relationship Id="rId9" Type="http://schemas.openxmlformats.org/officeDocument/2006/relationships/image" Target="../media/image31.png"/><Relationship Id="rId14" Type="http://schemas.openxmlformats.org/officeDocument/2006/relationships/image" Target="../media/image37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" y="7366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6100" y="1663700"/>
            <a:ext cx="241300" cy="241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7900" y="1663700"/>
            <a:ext cx="241300" cy="241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7000" y="1663700"/>
            <a:ext cx="241300" cy="241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11645900"/>
            <a:ext cx="71374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10896600"/>
            <a:ext cx="71374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476500" y="2921000"/>
            <a:ext cx="18783300" cy="189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spc="-300" dirty="0">
                <a:solidFill>
                  <a:srgbClr val="212020"/>
                </a:solidFill>
                <a:latin typeface="Pretendard Regular"/>
                <a:ea typeface="Pretendard Regular"/>
                <a:cs typeface="Pretendard Regular"/>
              </a:rPr>
              <a:t>Terraform </a:t>
            </a:r>
            <a:r>
              <a:rPr lang="en-US" sz="5333" b="0" i="0" u="none" strike="noStrike" spc="-300" dirty="0" err="1">
                <a:solidFill>
                  <a:srgbClr val="212020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lang="en-US" sz="5333" b="0" i="0" u="none" strike="noStrike" spc="-300" dirty="0">
                <a:solidFill>
                  <a:srgbClr val="212020"/>
                </a:solidFill>
                <a:latin typeface="Pretendard Regular"/>
                <a:ea typeface="Pretendard Regular"/>
                <a:cs typeface="Pretendard Regular"/>
              </a:rPr>
              <a:t> 
AWS–Azure </a:t>
            </a:r>
            <a:r>
              <a:rPr lang="en-US" sz="5333" b="0" i="0" u="none" strike="noStrike" spc="-300" dirty="0" err="1">
                <a:solidFill>
                  <a:srgbClr val="212020"/>
                </a:solidFill>
                <a:latin typeface="Pretendard Regular"/>
                <a:ea typeface="Pretendard Regular"/>
                <a:cs typeface="Pretendard Regular"/>
              </a:rPr>
              <a:t>멀티리전·멀티클라우드</a:t>
            </a:r>
            <a:r>
              <a:rPr lang="en-US" sz="5333" b="0" i="0" u="none" strike="noStrike" spc="-300" dirty="0">
                <a:solidFill>
                  <a:srgbClr val="212020"/>
                </a:solidFill>
                <a:latin typeface="Pretendard Regular"/>
                <a:ea typeface="Pretendard Regular"/>
                <a:cs typeface="Pretendard Regular"/>
              </a:rPr>
              <a:t> DR </a:t>
            </a:r>
            <a:r>
              <a:rPr lang="en-US" sz="5333" b="0" i="0" u="none" strike="noStrike" spc="-300" dirty="0" err="1">
                <a:solidFill>
                  <a:srgbClr val="212020"/>
                </a:solidFill>
                <a:latin typeface="Pretendard Regular"/>
                <a:ea typeface="Pretendard Regular"/>
                <a:cs typeface="Pretendard Regular"/>
              </a:rPr>
              <a:t>환경</a:t>
            </a:r>
            <a:endParaRPr lang="en-US" sz="5333" b="0" i="0" u="none" strike="noStrike" spc="-300" dirty="0">
              <a:solidFill>
                <a:srgbClr val="21202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241800" y="10337800"/>
            <a:ext cx="5283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2266" b="1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Ascensio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54300" y="10337800"/>
            <a:ext cx="1231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2266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Team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41800" y="11087100"/>
            <a:ext cx="5283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2266" b="1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차상용</a:t>
            </a:r>
            <a:r>
              <a:rPr lang="en-US" sz="2266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김진호, 안종범, 조현진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54300" y="11087100"/>
            <a:ext cx="1231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2266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Member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42700" y="749300"/>
            <a:ext cx="12166600" cy="5422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77100" y="876300"/>
            <a:ext cx="3149600" cy="2120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383000" y="6388100"/>
            <a:ext cx="4013200" cy="6604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51100" y="4787900"/>
            <a:ext cx="13538200" cy="1778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281900" y="5054600"/>
            <a:ext cx="2527300" cy="3263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300" y="1181100"/>
            <a:ext cx="22059900" cy="1134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800" y="1651000"/>
            <a:ext cx="1587500" cy="57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600" y="8001000"/>
            <a:ext cx="20878800" cy="50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0" y="9550400"/>
            <a:ext cx="200914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0" y="10820400"/>
            <a:ext cx="200914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4100" y="8648700"/>
            <a:ext cx="1384300" cy="571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88300" y="8648700"/>
            <a:ext cx="1384300" cy="571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44100" y="9944100"/>
            <a:ext cx="1384300" cy="571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688300" y="9944100"/>
            <a:ext cx="1384300" cy="571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4100" y="11188700"/>
            <a:ext cx="1384300" cy="571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688300" y="11188700"/>
            <a:ext cx="1384300" cy="571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096500" y="8699500"/>
            <a:ext cx="10795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32000" y="8661400"/>
            <a:ext cx="8890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3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57500" y="8661400"/>
            <a:ext cx="5537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</a:t>
            </a:r>
            <a:r>
              <a:rPr lang="en-US" sz="3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개요</a:t>
            </a:r>
            <a:r>
              <a:rPr lang="en-US" sz="3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3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추진</a:t>
            </a:r>
            <a:r>
              <a:rPr lang="en-US" sz="3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배경</a:t>
            </a:r>
            <a:endParaRPr lang="en-US" sz="3333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0840700" y="8699500"/>
            <a:ext cx="10795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53P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76200" y="8661400"/>
            <a:ext cx="8890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3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01700" y="8661400"/>
            <a:ext cx="5537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3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테스트 및 결과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96500" y="10007600"/>
            <a:ext cx="10795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11P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32000" y="9969500"/>
            <a:ext cx="8890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3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57500" y="9969500"/>
            <a:ext cx="5537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3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 설계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840700" y="10007600"/>
            <a:ext cx="10795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54P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76200" y="9969500"/>
            <a:ext cx="8890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3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01700" y="9969500"/>
            <a:ext cx="5537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3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향후 발전 계획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96500" y="11239500"/>
            <a:ext cx="10795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52P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32000" y="11201400"/>
            <a:ext cx="8890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3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57500" y="11201400"/>
            <a:ext cx="5537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3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840700" y="11239500"/>
            <a:ext cx="10795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55P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76200" y="11201400"/>
            <a:ext cx="8890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3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01700" y="11201400"/>
            <a:ext cx="5537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3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마무리 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32000" y="2527300"/>
            <a:ext cx="17043400" cy="9906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목차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06600" y="1778000"/>
            <a:ext cx="14224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133" b="0" i="0" u="none" strike="noStrike" spc="-100">
                <a:solidFill>
                  <a:srgbClr val="E4F0D5"/>
                </a:solidFill>
                <a:latin typeface="Pretendard Regular"/>
                <a:ea typeface="Pretendard Regular"/>
                <a:cs typeface="Pretendard Regular"/>
              </a:rPr>
              <a:t>Contants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167600" y="1612900"/>
            <a:ext cx="24765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프로젝트 완료 보고서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961100" y="1612900"/>
            <a:ext cx="1447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미리컴퍼니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97500" y="5080000"/>
            <a:ext cx="3276600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2050" y="118745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0000" y="10007600"/>
            <a:ext cx="190500" cy="762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903700" y="10718800"/>
            <a:ext cx="4470400" cy="965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∙  요구사항 정확도 향상</a:t>
            </a:r>
          </a:p>
          <a:p>
            <a:pPr lvl="0" algn="ctr">
              <a:lnSpc>
                <a:spcPct val="13280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∙  소통 비용 절감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600" y="4660900"/>
            <a:ext cx="20878800" cy="50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50000"/>
          </a:blip>
          <a:stretch>
            <a:fillRect/>
          </a:stretch>
        </p:blipFill>
        <p:spPr>
          <a:xfrm>
            <a:off x="3136900" y="5283200"/>
            <a:ext cx="8801100" cy="2298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60000"/>
          </a:blip>
          <a:stretch>
            <a:fillRect/>
          </a:stretch>
        </p:blipFill>
        <p:spPr>
          <a:xfrm>
            <a:off x="12458700" y="5283200"/>
            <a:ext cx="8801100" cy="2298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50000"/>
          </a:blip>
          <a:stretch>
            <a:fillRect/>
          </a:stretch>
        </p:blipFill>
        <p:spPr>
          <a:xfrm>
            <a:off x="3136900" y="8001000"/>
            <a:ext cx="8801100" cy="2298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40000"/>
          </a:blip>
          <a:stretch>
            <a:fillRect/>
          </a:stretch>
        </p:blipFill>
        <p:spPr>
          <a:xfrm>
            <a:off x="12458700" y="8001000"/>
            <a:ext cx="8801100" cy="229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24200" y="10820400"/>
            <a:ext cx="18148300" cy="1155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36900" y="5283200"/>
            <a:ext cx="8801100" cy="2298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458700" y="5283200"/>
            <a:ext cx="8801100" cy="2298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36900" y="8001000"/>
            <a:ext cx="8801100" cy="2298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458700" y="8001000"/>
            <a:ext cx="8801100" cy="22987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4483100" y="11150600"/>
            <a:ext cx="15417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현장 환경에서 요구되는 접속 안정성과 서비스 연속성을 기술적으로 검증한 인프라 중심 프로젝트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16500" y="5435600"/>
            <a:ext cx="5194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1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</a:t>
            </a:r>
            <a:r>
              <a:rPr lang="en-US" sz="3066" b="1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1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개요</a:t>
            </a:r>
            <a:endParaRPr lang="en-US" sz="3066" b="1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262100" y="5435600"/>
            <a:ext cx="5194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1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추진</a:t>
            </a:r>
            <a:r>
              <a:rPr lang="en-US" sz="3066" b="1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1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배경</a:t>
            </a:r>
            <a:endParaRPr lang="en-US" sz="3066" b="1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016500" y="8191500"/>
            <a:ext cx="5194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1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문제</a:t>
            </a:r>
            <a:r>
              <a:rPr lang="en-US" sz="3066" b="1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1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인식</a:t>
            </a:r>
            <a:endParaRPr lang="en-US" sz="3066" b="1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262100" y="8191500"/>
            <a:ext cx="5194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1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</a:t>
            </a:r>
            <a:r>
              <a:rPr lang="en-US" sz="3066" b="1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66" b="1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목표</a:t>
            </a:r>
            <a:endParaRPr lang="en-US" sz="3066" b="1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955800" y="32512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1" i="0" u="none" strike="noStrike" spc="-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</a:t>
            </a:r>
            <a:r>
              <a:rPr lang="en-US" sz="5600" b="1" i="0" u="none" strike="noStrike" spc="-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5600" b="1" i="0" u="none" strike="noStrike" spc="-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소개</a:t>
            </a:r>
            <a:endParaRPr lang="en-US" sz="5600" b="1" i="0" u="none" strike="noStrike" spc="-3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40100" y="6057900"/>
            <a:ext cx="8496300" cy="1371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611100" y="6057900"/>
            <a:ext cx="8496300" cy="1409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40100" y="8775700"/>
            <a:ext cx="8496300" cy="13716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3517900" y="6273800"/>
            <a:ext cx="8153400" cy="927100"/>
          </a:xfrm>
          <a:prstGeom prst="rect">
            <a:avLst/>
          </a:prstGeom>
        </p:spPr>
        <p:txBody>
          <a:bodyPr lIns="0" tIns="104562" rIns="0" bIns="0" rtlCol="0" anchor="t"/>
          <a:lstStyle/>
          <a:p>
            <a:pPr lvl="0" algn="ctr">
              <a:lnSpc>
                <a:spcPct val="62248"/>
              </a:lnSpc>
            </a:pPr>
            <a:r>
              <a:rPr lang="en-US" sz="25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현장 작업 환경을 고려한 웹 기반 작업 정보 공유 시스템
안정적인 현장 접속을 목표로 한 인프라·재해복구 중심 프로젝트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01600" y="6083300"/>
            <a:ext cx="82169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기존 현장 관리 시스템의 현장 적합성 한계 </a:t>
            </a:r>
          </a:p>
          <a:p>
            <a:pPr lvl="0" algn="ctr">
              <a:lnSpc>
                <a:spcPct val="116199"/>
              </a:lnSpc>
            </a:pPr>
            <a:r>
              <a:rPr lang="en-US" sz="25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및 접속 안정성에 대한 요구 증가, 
유동적인 현장 환경에서 서비스 연속성 확보의 필요성 부각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517900" y="9004300"/>
            <a:ext cx="8204200" cy="927100"/>
          </a:xfrm>
          <a:prstGeom prst="rect">
            <a:avLst/>
          </a:prstGeom>
        </p:spPr>
        <p:txBody>
          <a:bodyPr lIns="0" tIns="104562" rIns="0" bIns="0" rtlCol="0" anchor="t"/>
          <a:lstStyle/>
          <a:p>
            <a:pPr lvl="0" algn="ctr">
              <a:lnSpc>
                <a:spcPct val="62248"/>
              </a:lnSpc>
            </a:pPr>
            <a:r>
              <a:rPr lang="en-US" sz="25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현장 작업 특성상 네트워크 환경이 불안정하고 접속 위치가 다양함
장애 발생 시 서비스 중단이 작업 효율과 안전에 직접적인 영향을 미침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598400" y="8737600"/>
            <a:ext cx="8496300" cy="13716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2801600" y="9004300"/>
            <a:ext cx="8089900" cy="927100"/>
          </a:xfrm>
          <a:prstGeom prst="rect">
            <a:avLst/>
          </a:prstGeom>
        </p:spPr>
        <p:txBody>
          <a:bodyPr lIns="0" tIns="104562" rIns="0" bIns="0" rtlCol="0" anchor="t"/>
          <a:lstStyle/>
          <a:p>
            <a:pPr lvl="0" algn="ctr">
              <a:lnSpc>
                <a:spcPct val="62248"/>
              </a:lnSpc>
            </a:pPr>
            <a:r>
              <a:rPr lang="en-US" sz="25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기능 범위보다는 인프라 안정성과 가용성 검증에 초점
멀티 리전·멀티 클라우드 기반 재해복구 구조 설계 및 구현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00600" y="11099800"/>
            <a:ext cx="596900" cy="5969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55800" y="1651000"/>
            <a:ext cx="2832100" cy="5715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2089150" y="1758950"/>
            <a:ext cx="2565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0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개요</a:t>
            </a:r>
            <a:endParaRPr lang="en-US" sz="20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7600" y="8648700"/>
            <a:ext cx="190500" cy="774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38900" y="8724900"/>
            <a:ext cx="190500" cy="774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9900" y="3784600"/>
            <a:ext cx="20878800" cy="50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49500" y="4305300"/>
            <a:ext cx="4114800" cy="5168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917700" y="25654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팀원 소개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개요</a:t>
            </a:r>
            <a:endParaRPr lang="en-US" sz="20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77400" y="8470900"/>
            <a:ext cx="190500" cy="774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27900" y="4241800"/>
            <a:ext cx="3911600" cy="4914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43100" y="8648700"/>
            <a:ext cx="190500" cy="774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58700" y="4279900"/>
            <a:ext cx="3937000" cy="4914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97700" y="9080500"/>
            <a:ext cx="190500" cy="774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729200" y="4279900"/>
            <a:ext cx="3911600" cy="4914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7900" y="4419600"/>
            <a:ext cx="3784600" cy="4737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40000" y="4419600"/>
            <a:ext cx="3708400" cy="4826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344400" y="4533900"/>
            <a:ext cx="4102100" cy="4660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576800" y="4495800"/>
            <a:ext cx="4076700" cy="4762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35200" y="8940800"/>
            <a:ext cx="4229100" cy="2971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242800" y="8940800"/>
            <a:ext cx="4305300" cy="29718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2095500" y="10426700"/>
            <a:ext cx="4521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62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Terraform을 활용해 </a:t>
            </a:r>
          </a:p>
          <a:p>
            <a:pPr lvl="0" algn="ctr">
              <a:lnSpc>
                <a:spcPct val="132800"/>
              </a:lnSpc>
            </a:pPr>
            <a:r>
              <a:rPr lang="en-US" sz="2562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AWS 인프라를 자동화</a:t>
            </a:r>
          </a:p>
          <a:p>
            <a:pPr lvl="0" algn="ctr">
              <a:lnSpc>
                <a:spcPct val="132800"/>
              </a:lnSpc>
            </a:pPr>
            <a:endParaRPr lang="en-US" sz="2562" b="0" i="0" u="none" strike="noStrike" spc="-20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192000" y="10134600"/>
            <a:ext cx="4521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62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전체</a:t>
            </a:r>
            <a:r>
              <a:rPr lang="en-US" sz="2562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62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테스트</a:t>
            </a:r>
            <a:r>
              <a:rPr lang="en-US" sz="2562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62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시나리오</a:t>
            </a:r>
            <a:r>
              <a:rPr lang="en-US" sz="2562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62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정리</a:t>
            </a:r>
            <a:endParaRPr lang="en-US" sz="2562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32800"/>
              </a:lnSpc>
            </a:pPr>
            <a:r>
              <a:rPr lang="en-US" sz="2562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PPT </a:t>
            </a:r>
            <a:r>
              <a:rPr lang="en-US" sz="2562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제작</a:t>
            </a:r>
            <a:r>
              <a:rPr lang="en-US" sz="2562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, </a:t>
            </a:r>
            <a:r>
              <a:rPr lang="en-US" sz="2562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프론트엔드</a:t>
            </a:r>
            <a:r>
              <a:rPr lang="en-US" sz="2562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,</a:t>
            </a:r>
          </a:p>
          <a:p>
            <a:pPr lvl="0" algn="ctr">
              <a:lnSpc>
                <a:spcPct val="132800"/>
              </a:lnSpc>
            </a:pPr>
            <a:r>
              <a:rPr lang="en-US" sz="2562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WAF </a:t>
            </a:r>
            <a:r>
              <a:rPr lang="en-US" sz="2562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구축</a:t>
            </a:r>
            <a:endParaRPr lang="en-US" sz="2562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538700" y="8940800"/>
            <a:ext cx="4229100" cy="29718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7373600" y="10363200"/>
            <a:ext cx="4521200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62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Azure DR </a:t>
            </a:r>
            <a:r>
              <a:rPr lang="en-US" sz="2562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환경</a:t>
            </a:r>
            <a:r>
              <a:rPr lang="en-US" sz="2562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62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구성</a:t>
            </a:r>
            <a:r>
              <a:rPr lang="en-US" sz="2562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, 
 AWS–Azure </a:t>
            </a:r>
            <a:r>
              <a:rPr lang="en-US" sz="2562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전환</a:t>
            </a:r>
            <a:r>
              <a:rPr lang="en-US" sz="2562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62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시나리오</a:t>
            </a:r>
            <a:r>
              <a:rPr lang="en-US" sz="2562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62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담당</a:t>
            </a:r>
            <a:endParaRPr lang="en-US" sz="2562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12000" y="8940800"/>
            <a:ext cx="4343400" cy="29718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7061200" y="10109200"/>
            <a:ext cx="4521200" cy="254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62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PHP 기반 웹 서비스 구현</a:t>
            </a:r>
          </a:p>
          <a:p>
            <a:pPr lvl="0" algn="ctr">
              <a:lnSpc>
                <a:spcPct val="132800"/>
              </a:lnSpc>
            </a:pPr>
            <a:r>
              <a:rPr lang="en-US" sz="2562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Global Accelerator, </a:t>
            </a:r>
          </a:p>
          <a:p>
            <a:pPr lvl="0" algn="ctr">
              <a:lnSpc>
                <a:spcPct val="132800"/>
              </a:lnSpc>
            </a:pPr>
            <a:r>
              <a:rPr lang="en-US" sz="2562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Route53 구축</a:t>
            </a:r>
          </a:p>
          <a:p>
            <a:pPr lvl="0" algn="ctr">
              <a:lnSpc>
                <a:spcPct val="132800"/>
              </a:lnSpc>
            </a:pPr>
            <a:endParaRPr lang="en-US" sz="2562" b="0" i="0" u="none" strike="noStrike" spc="-20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32800"/>
              </a:lnSpc>
            </a:pPr>
            <a:endParaRPr lang="en-US" sz="2562" b="0" i="0" u="none" strike="noStrike" spc="-20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95600" y="9956800"/>
            <a:ext cx="2997200" cy="508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85100" y="9880600"/>
            <a:ext cx="2997200" cy="508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03200" y="9931400"/>
            <a:ext cx="2997200" cy="508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199100" y="9956800"/>
            <a:ext cx="2997200" cy="508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2933700" y="9258300"/>
            <a:ext cx="2959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차상용 [ 팀장 ]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34300" y="9258300"/>
            <a:ext cx="2959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안종범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03200" y="9258300"/>
            <a:ext cx="2959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조현진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173700" y="9258300"/>
            <a:ext cx="2959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김진호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0000" y="10007600"/>
            <a:ext cx="190500" cy="762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903700" y="10718800"/>
            <a:ext cx="4470400" cy="965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∙  요구사항 정확도 향상</a:t>
            </a:r>
          </a:p>
          <a:p>
            <a:pPr lvl="0" algn="ctr">
              <a:lnSpc>
                <a:spcPct val="13280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∙  소통 비용 절감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2832100" cy="571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2600" y="4660900"/>
            <a:ext cx="20878800" cy="50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006600" y="6337300"/>
            <a:ext cx="3479800" cy="4470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197600" y="6337300"/>
            <a:ext cx="3479800" cy="4470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0375900" y="6337300"/>
            <a:ext cx="3479800" cy="4470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4566900" y="6337300"/>
            <a:ext cx="3479800" cy="4470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8745200" y="6337300"/>
            <a:ext cx="3479800" cy="4470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55800" y="5575300"/>
            <a:ext cx="20510500" cy="25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61300" y="5461000"/>
            <a:ext cx="139700" cy="254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30600" y="5461000"/>
            <a:ext cx="139700" cy="254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900400" y="6756400"/>
            <a:ext cx="800100" cy="800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40000" y="5130800"/>
            <a:ext cx="2425700" cy="850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09300" y="5130800"/>
            <a:ext cx="2425700" cy="850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278600" y="5130800"/>
            <a:ext cx="2425700" cy="8509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324100" y="8623300"/>
            <a:ext cx="28448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프로젝트 주제 선정, </a:t>
            </a:r>
          </a:p>
          <a:p>
            <a:pPr lvl="0" algn="ctr">
              <a:lnSpc>
                <a:spcPct val="124499"/>
              </a:lnSpc>
            </a:pPr>
            <a:r>
              <a:rPr lang="en-US" sz="2400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전체 서비스 흐름 구성과</a:t>
            </a:r>
          </a:p>
          <a:p>
            <a:pPr lvl="0" algn="ctr">
              <a:lnSpc>
                <a:spcPct val="124499"/>
              </a:lnSpc>
            </a:pPr>
            <a:r>
              <a:rPr lang="en-US" sz="2400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 인프라 구조를 기획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73300" y="7924800"/>
            <a:ext cx="2959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23000" y="8623300"/>
            <a:ext cx="34163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글로벌 트래픽 대응과 고가용성을 목표로 AWS–Azure 연계 구조 상세 인프라 구성도를 제작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64300" y="7924800"/>
            <a:ext cx="2959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구성도 제작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693400" y="8623300"/>
            <a:ext cx="28448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PHP 기반 웹 서비스 </a:t>
            </a:r>
          </a:p>
          <a:p>
            <a:pPr lvl="0" algn="ctr">
              <a:lnSpc>
                <a:spcPct val="124499"/>
              </a:lnSpc>
            </a:pPr>
            <a:r>
              <a:rPr lang="en-US" sz="2400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개발 및 DB 연동 테스트</a:t>
            </a:r>
          </a:p>
          <a:p>
            <a:pPr lvl="0" algn="ctr">
              <a:lnSpc>
                <a:spcPct val="124499"/>
              </a:lnSpc>
            </a:pPr>
            <a:r>
              <a:rPr lang="en-US" sz="2400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 페이지 구현
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42600" y="7924800"/>
            <a:ext cx="2959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서비스 구현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84400" y="8623300"/>
            <a:ext cx="28448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네트워크·보안·확장성</a:t>
            </a:r>
            <a:r>
              <a:rPr lang="en-US" sz="2400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  <a:p>
            <a:pPr lvl="0" algn="ctr">
              <a:lnSpc>
                <a:spcPct val="124499"/>
              </a:lnSpc>
            </a:pPr>
            <a:r>
              <a:rPr lang="en-US" sz="2400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중심</a:t>
            </a:r>
            <a:r>
              <a:rPr lang="en-US" sz="2400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인프라</a:t>
            </a:r>
            <a:r>
              <a:rPr lang="en-US" sz="2400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구현</a:t>
            </a:r>
            <a:r>
              <a:rPr lang="en-US" sz="2400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, 
</a:t>
            </a:r>
            <a:r>
              <a:rPr lang="en-US" sz="2400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글로벌</a:t>
            </a:r>
            <a:r>
              <a:rPr lang="en-US" sz="2400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트래픽</a:t>
            </a:r>
            <a:r>
              <a:rPr lang="en-US" sz="2400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분산</a:t>
            </a:r>
            <a:r>
              <a:rPr lang="en-US" sz="2400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400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멀티</a:t>
            </a:r>
            <a:r>
              <a:rPr lang="en-US" sz="2400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클라우드</a:t>
            </a:r>
            <a:r>
              <a:rPr lang="en-US" sz="2400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연동</a:t>
            </a:r>
            <a:r>
              <a:rPr lang="en-US" sz="2400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검증</a:t>
            </a:r>
            <a:endParaRPr lang="en-US" sz="2400" b="0" i="0" u="none" strike="noStrike" spc="-200" dirty="0">
              <a:solidFill>
                <a:srgbClr val="4D4D4D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833600" y="7924800"/>
            <a:ext cx="2959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구현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연결</a:t>
            </a:r>
            <a:endParaRPr lang="en-US" sz="2933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9062700" y="8623300"/>
            <a:ext cx="28448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최종 구현 결과 및 </a:t>
            </a:r>
          </a:p>
          <a:p>
            <a:pPr lvl="0" algn="ctr">
              <a:lnSpc>
                <a:spcPct val="124499"/>
              </a:lnSpc>
            </a:pPr>
            <a:r>
              <a:rPr lang="en-US" sz="2400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개선 방향 도출,</a:t>
            </a:r>
          </a:p>
          <a:p>
            <a:pPr lvl="0" algn="ctr">
              <a:lnSpc>
                <a:spcPct val="124499"/>
              </a:lnSpc>
            </a:pPr>
            <a:r>
              <a:rPr lang="en-US" sz="2400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보안·확장성 검증</a:t>
            </a:r>
          </a:p>
          <a:p>
            <a:pPr lvl="0" algn="ctr">
              <a:lnSpc>
                <a:spcPct val="124499"/>
              </a:lnSpc>
            </a:pPr>
            <a:r>
              <a:rPr lang="en-US" sz="2400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 및 발표 자료 정리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011900" y="7924800"/>
            <a:ext cx="2959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발표 준비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71800" y="5334000"/>
            <a:ext cx="1562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1주차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341100" y="5334000"/>
            <a:ext cx="1562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2주차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710400" y="5334000"/>
            <a:ext cx="1562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4주차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66900" y="3213100"/>
            <a:ext cx="207137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333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진행 과정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82800" y="1765300"/>
            <a:ext cx="2565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개요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027900" y="6705600"/>
            <a:ext cx="939800" cy="9398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38500" y="6705600"/>
            <a:ext cx="1028700" cy="1028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80300" y="6756400"/>
            <a:ext cx="965200" cy="9652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658600" y="6781800"/>
            <a:ext cx="8128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3467100" cy="57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600" y="4660900"/>
            <a:ext cx="208788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78000" y="3238500"/>
            <a:ext cx="20726400" cy="204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웹 서비스 구현 </a:t>
            </a:r>
          </a:p>
          <a:p>
            <a:pPr lvl="0" algn="l">
              <a:lnSpc>
                <a:spcPct val="122008"/>
              </a:lnSpc>
            </a:pPr>
            <a:endParaRPr lang="en-US" sz="5600" b="0" i="0" u="none" strike="noStrike" spc="-30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20900" y="1765300"/>
            <a:ext cx="31369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 구성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42000"/>
          </a:blip>
          <a:stretch>
            <a:fillRect/>
          </a:stretch>
        </p:blipFill>
        <p:spPr>
          <a:xfrm>
            <a:off x="13538200" y="5156200"/>
            <a:ext cx="7797800" cy="6934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03900" y="5842000"/>
            <a:ext cx="1320800" cy="1498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770600" y="9372600"/>
            <a:ext cx="1003300" cy="1397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782800" y="5829300"/>
            <a:ext cx="1333500" cy="149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960600" y="9258300"/>
            <a:ext cx="1028700" cy="1524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3208000" y="78486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Java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09600" y="111379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apache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018000" y="78232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php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119600" y="110998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json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7">
            <a:alphaModFix amt="42000"/>
          </a:blip>
          <a:stretch>
            <a:fillRect/>
          </a:stretch>
        </p:blipFill>
        <p:spPr>
          <a:xfrm>
            <a:off x="3136900" y="5283200"/>
            <a:ext cx="7696200" cy="3136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6578600" y="7721600"/>
            <a:ext cx="4305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89300" y="7734300"/>
            <a:ext cx="38989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S3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76400" y="5778500"/>
            <a:ext cx="2895600" cy="10541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71500" y="6019800"/>
            <a:ext cx="518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lang="en-US" sz="26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&amp; </a:t>
            </a: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스토리지</a:t>
            </a:r>
            <a:endParaRPr lang="en-US" sz="26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52200" y="5778500"/>
            <a:ext cx="3086100" cy="10541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0210800" y="6070600"/>
            <a:ext cx="518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애플리케이션</a:t>
            </a:r>
            <a:r>
              <a:rPr lang="en-US" sz="26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구성</a:t>
            </a:r>
            <a:r>
              <a:rPr lang="en-US" sz="26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요소</a:t>
            </a:r>
            <a:endParaRPr lang="en-US" sz="26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67700" y="6070600"/>
            <a:ext cx="927100" cy="12319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22800" y="6083300"/>
            <a:ext cx="1219200" cy="1219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2">
            <a:alphaModFix amt="42000"/>
          </a:blip>
          <a:stretch>
            <a:fillRect/>
          </a:stretch>
        </p:blipFill>
        <p:spPr>
          <a:xfrm>
            <a:off x="4419600" y="8864600"/>
            <a:ext cx="5270500" cy="32258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4800600" y="11150600"/>
            <a:ext cx="4305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CloudWatch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11400" y="9359900"/>
            <a:ext cx="2895600" cy="10541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130300" y="9601200"/>
            <a:ext cx="518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운영</a:t>
            </a:r>
            <a:r>
              <a:rPr lang="en-US" sz="26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모니터링</a:t>
            </a:r>
            <a:endParaRPr lang="en-US" sz="26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9677400"/>
            <a:ext cx="1117600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3467100" cy="57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600" y="4660900"/>
            <a:ext cx="208788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90700" y="32258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애플리케이션</a:t>
            </a:r>
            <a:r>
              <a:rPr lang="en-US" sz="5600" b="0" i="0" u="none" strike="noStrike" spc="-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트</a:t>
            </a:r>
            <a:r>
              <a:rPr lang="ko-KR" altLang="en-US" sz="5600" b="0" i="0" u="none" strike="noStrike" spc="-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래</a:t>
            </a:r>
            <a:r>
              <a:rPr lang="en-US" sz="5600" b="0" i="0" u="none" strike="noStrike" spc="-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픽 </a:t>
            </a:r>
            <a:r>
              <a:rPr lang="en-US" sz="5600" b="0" i="0" u="none" strike="noStrike" spc="-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제어</a:t>
            </a:r>
            <a:endParaRPr lang="en-US" sz="5600" b="0" i="0" u="none" strike="noStrike" spc="-3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20900" y="1765300"/>
            <a:ext cx="31369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 구성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42000"/>
          </a:blip>
          <a:stretch>
            <a:fillRect/>
          </a:stretch>
        </p:blipFill>
        <p:spPr>
          <a:xfrm>
            <a:off x="13030200" y="5168900"/>
            <a:ext cx="8318500" cy="69342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6903700" y="110871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ALB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592300" y="9321800"/>
            <a:ext cx="1257300" cy="12573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3081000" y="110871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Global Accelerator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>
            <a:alphaModFix amt="42000"/>
          </a:blip>
          <a:stretch>
            <a:fillRect/>
          </a:stretch>
        </p:blipFill>
        <p:spPr>
          <a:xfrm>
            <a:off x="3048000" y="5168900"/>
            <a:ext cx="7962900" cy="6934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503400" y="5892800"/>
            <a:ext cx="1231900" cy="12192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2903200" y="76708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Route 53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802100" y="76708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Internet Gateway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288000" y="5778500"/>
            <a:ext cx="1333500" cy="1333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326100" y="9309100"/>
            <a:ext cx="1295400" cy="1295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43400" y="9309100"/>
            <a:ext cx="1155700" cy="11557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717800" y="110363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open VPN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07200" y="110363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EC2 auto scaling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0" y="9296400"/>
            <a:ext cx="1181100" cy="11811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5994400"/>
            <a:ext cx="1066800" cy="12827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4991100" y="7772400"/>
            <a:ext cx="38989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EC2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52600" y="5778500"/>
            <a:ext cx="2895600" cy="10541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571500" y="6019800"/>
            <a:ext cx="518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컴퓨팅</a:t>
            </a:r>
            <a:r>
              <a:rPr lang="en-US" sz="26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&amp; </a:t>
            </a: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접근</a:t>
            </a:r>
            <a:r>
              <a:rPr lang="en-US" sz="26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</a:t>
            </a:r>
            <a:endParaRPr lang="en-US" sz="26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14100" y="5778500"/>
            <a:ext cx="2984500" cy="10541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0121900" y="6070600"/>
            <a:ext cx="51816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트레픽 제어 및 서비스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3467100" cy="57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600" y="4660900"/>
            <a:ext cx="208788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52600" y="32258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보안 &amp; 네트워크 연계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1765300"/>
            <a:ext cx="31369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 구성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42000"/>
          </a:blip>
          <a:stretch>
            <a:fillRect/>
          </a:stretch>
        </p:blipFill>
        <p:spPr>
          <a:xfrm>
            <a:off x="12801600" y="5207000"/>
            <a:ext cx="8382000" cy="6934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70300" y="6121400"/>
            <a:ext cx="1219200" cy="1384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4833600" y="78105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VPC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62400" y="110363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NAT Gateway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224500" y="9398000"/>
            <a:ext cx="1219200" cy="1181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478000" y="9359900"/>
            <a:ext cx="1231900" cy="1193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2941300" y="110490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Transit Gateway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6">
            <a:alphaModFix amt="42000"/>
          </a:blip>
          <a:stretch>
            <a:fillRect/>
          </a:stretch>
        </p:blipFill>
        <p:spPr>
          <a:xfrm>
            <a:off x="2768600" y="5207000"/>
            <a:ext cx="8204200" cy="6934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23000" y="6045200"/>
            <a:ext cx="1295400" cy="129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28000" y="9385300"/>
            <a:ext cx="1231900" cy="1231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65600" y="9359900"/>
            <a:ext cx="1270000" cy="1270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4648200" y="78105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ACM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16200" y="110871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WAF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91300" y="110871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WAF Rule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52600" y="5778500"/>
            <a:ext cx="2667000" cy="10541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533400" y="6019800"/>
            <a:ext cx="518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보안</a:t>
            </a:r>
            <a:r>
              <a:rPr lang="en-US" sz="26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&amp; </a:t>
            </a: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인증</a:t>
            </a:r>
            <a:endParaRPr lang="en-US" sz="26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28400" y="5727700"/>
            <a:ext cx="2679700" cy="10541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0058400" y="6007100"/>
            <a:ext cx="518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네트워크</a:t>
            </a:r>
            <a:endParaRPr lang="en-US" sz="26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3467100" cy="57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600" y="4546600"/>
            <a:ext cx="208788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52600" y="3035300"/>
            <a:ext cx="207137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200" b="0" i="0" u="none" strike="noStrike" spc="-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외부</a:t>
            </a:r>
            <a:r>
              <a:rPr lang="en-US" sz="5200" b="0" i="0" u="none" strike="noStrike" spc="-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5200" b="0" i="0" u="none" strike="noStrike" spc="-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서비스</a:t>
            </a:r>
            <a:r>
              <a:rPr lang="en-US" sz="5200" b="0" i="0" u="none" strike="noStrike" spc="-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5200" b="0" i="0" u="none" strike="noStrike" spc="-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및</a:t>
            </a:r>
            <a:r>
              <a:rPr lang="en-US" sz="5200" b="0" i="0" u="none" strike="noStrike" spc="-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5200" b="0" i="0" u="none" strike="noStrike" spc="-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협업</a:t>
            </a:r>
            <a:r>
              <a:rPr lang="en-US" sz="5200" b="0" i="0" u="none" strike="noStrike" spc="-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1765300"/>
            <a:ext cx="31369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 구성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29000"/>
          </a:blip>
          <a:stretch>
            <a:fillRect/>
          </a:stretch>
        </p:blipFill>
        <p:spPr>
          <a:xfrm>
            <a:off x="5410200" y="5168900"/>
            <a:ext cx="13728700" cy="6934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4400" y="5676900"/>
            <a:ext cx="1409700" cy="1409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854700" y="76200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Terraform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06200" y="5676900"/>
            <a:ext cx="1409700" cy="1409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083800" y="76200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Visual studio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19400" y="5753100"/>
            <a:ext cx="1524000" cy="1524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4224000" y="76581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Chat GPT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89800" y="9245600"/>
            <a:ext cx="1524000" cy="1524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5892800" y="112014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Notion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09400" y="9347200"/>
            <a:ext cx="1231900" cy="1231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0172700" y="112395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Slack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760700" y="9385300"/>
            <a:ext cx="1244600" cy="12446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4274800" y="112014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drow.io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6500" y="11430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3467100" cy="57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600" y="4660900"/>
            <a:ext cx="208788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52600" y="3035300"/>
            <a:ext cx="20713700" cy="189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2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AZure 서버 구현</a:t>
            </a:r>
          </a:p>
          <a:p>
            <a:pPr lvl="0" algn="l">
              <a:lnSpc>
                <a:spcPct val="122008"/>
              </a:lnSpc>
            </a:pPr>
            <a:endParaRPr lang="en-US" sz="5200" b="0" i="0" u="none" strike="noStrike" spc="-30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20900" y="1765300"/>
            <a:ext cx="31369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 구성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15000"/>
          </a:blip>
          <a:stretch>
            <a:fillRect/>
          </a:stretch>
        </p:blipFill>
        <p:spPr>
          <a:xfrm>
            <a:off x="5207000" y="5219700"/>
            <a:ext cx="14020800" cy="6832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20200" y="5994400"/>
            <a:ext cx="1384300" cy="1231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25500" y="5943600"/>
            <a:ext cx="1422400" cy="129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8150" y="9220200"/>
            <a:ext cx="1168400" cy="1371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493750" y="9220200"/>
            <a:ext cx="1485900" cy="14859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747000" y="77343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Virtual Machine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50436" y="77343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Blob Storage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47000" y="110871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Bastion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50436" y="11087100"/>
            <a:ext cx="430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199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Application Gateway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3467100" cy="571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20900" y="1765300"/>
            <a:ext cx="31369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 구성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0400" y="2921000"/>
            <a:ext cx="15532100" cy="9144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866900" y="2501900"/>
            <a:ext cx="22860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1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구성도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Terraform 인프라 구성도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96800" y="4165600"/>
            <a:ext cx="4775200" cy="7658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55800" y="4165600"/>
            <a:ext cx="10210800" cy="7848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64100" y="4165600"/>
            <a:ext cx="4660900" cy="76581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6764000" y="4508500"/>
            <a:ext cx="62738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21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Terraform 기반 AWS 멀티리전 인프라 구성</a:t>
            </a:r>
          </a:p>
          <a:p>
            <a:pPr lvl="0" algn="ctr">
              <a:lnSpc>
                <a:spcPct val="126160"/>
              </a:lnSpc>
            </a:pPr>
            <a:r>
              <a:rPr lang="en-US" sz="221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(Seoul ↔ Tokyo)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703800" y="6096000"/>
            <a:ext cx="4394200" cy="2565400"/>
          </a:xfrm>
          <a:prstGeom prst="rect">
            <a:avLst/>
          </a:prstGeom>
        </p:spPr>
        <p:txBody>
          <a:bodyPr lIns="0" tIns="14549" rIns="0" bIns="0" rtlCol="0" anchor="t"/>
          <a:lstStyle/>
          <a:p>
            <a:pPr lvl="0" algn="ctr">
              <a:lnSpc>
                <a:spcPct val="108729"/>
              </a:lnSpc>
            </a:pPr>
            <a:r>
              <a:rPr lang="en-US" sz="2545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리전별 동일 아키텍처를 재현 </a:t>
            </a:r>
          </a:p>
          <a:p>
            <a:pPr lvl="0" algn="ctr">
              <a:lnSpc>
                <a:spcPct val="108729"/>
              </a:lnSpc>
            </a:pPr>
            <a:endParaRPr lang="en-US" sz="2545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08729"/>
              </a:lnSpc>
            </a:pPr>
            <a:r>
              <a:rPr lang="en-US" sz="2545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RDS/S3 복제로 DR 기반을 구성 </a:t>
            </a:r>
          </a:p>
          <a:p>
            <a:pPr lvl="0" algn="ctr">
              <a:lnSpc>
                <a:spcPct val="108729"/>
              </a:lnSpc>
            </a:pPr>
            <a:endParaRPr lang="en-US" sz="2545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08729"/>
              </a:lnSpc>
            </a:pPr>
            <a:r>
              <a:rPr lang="en-US" sz="2545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1:1 매핑되는 IaC 구조로 </a:t>
            </a:r>
          </a:p>
          <a:p>
            <a:pPr lvl="0" algn="ctr">
              <a:lnSpc>
                <a:spcPct val="108729"/>
              </a:lnSpc>
            </a:pPr>
            <a:r>
              <a:rPr lang="en-US" sz="2545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운영/확장성을 확보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830800" y="9156700"/>
            <a:ext cx="4127500" cy="800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856200" y="10439400"/>
            <a:ext cx="4064000" cy="812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8897600" y="9220200"/>
            <a:ext cx="6172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022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3022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22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공간</a:t>
            </a:r>
            <a:r>
              <a:rPr lang="en-US" sz="3022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22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분리</a:t>
            </a:r>
            <a:br>
              <a:rPr lang="en-US" sz="3022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endParaRPr lang="en-US" sz="3022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8897600" y="10515600"/>
            <a:ext cx="6172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022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리소스</a:t>
            </a:r>
            <a:r>
              <a:rPr lang="en-US" sz="3022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22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모듈화</a:t>
            </a:r>
            <a:r>
              <a:rPr lang="en-US" sz="3022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856200" y="5308600"/>
            <a:ext cx="40513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6600" y="4216400"/>
            <a:ext cx="3175000" cy="711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AWS 멀티 리전 인프라 설계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8750" y="4316845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키 </a:t>
            </a:r>
            <a:r>
              <a:rPr lang="en-US" sz="2533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페어</a:t>
            </a: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33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생성</a:t>
            </a:r>
            <a:endParaRPr lang="en-US" sz="2533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5900" y="5651500"/>
            <a:ext cx="18161000" cy="1714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5900" y="9182100"/>
            <a:ext cx="18402300" cy="18034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88C095D3-F5A7-B9E7-055A-5649AEC3754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6B190DA5-038D-7927-4C64-14965E1CED5A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B27D1357-C506-74B7-4DCE-0028F219106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8D730911-4BC2-7CDA-0EBC-28FA44C899D0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AWS 멀티 리전 인프라 설계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2400" y="43307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VPC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16400" y="8534400"/>
            <a:ext cx="17830800" cy="2794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78300" y="5473700"/>
            <a:ext cx="17843500" cy="20066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A37B6B9E-0271-A49F-5C26-B7D300AF485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0840E451-D3FB-E802-9DE6-EAB6891E56E9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05C56CFD-E36E-6A34-FECD-9284466C6A0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5B3919CE-E984-9BEF-93BB-F09E837F967C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AWS 멀티 리전 인프라 설계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2400" y="43307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Subnet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03900" y="4330700"/>
            <a:ext cx="15036800" cy="4025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03900" y="8420100"/>
            <a:ext cx="15049500" cy="32385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E48D75DA-AE36-E8A9-780B-E8B49E83FAF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0490E84F-FEBA-E4EB-9E38-B8B02B0F10F3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A7444496-FBD7-8C1C-E9B4-A0E94858261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31EE106E-5B5A-BF6D-4746-54C44DE6640C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AWS 멀티 리전 인프라 설계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52900" y="9258300"/>
            <a:ext cx="18122900" cy="1905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52900" y="5257800"/>
            <a:ext cx="18122900" cy="2324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52400" y="43307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IGW</a:t>
            </a:r>
          </a:p>
        </p:txBody>
      </p:sp>
      <p:pic>
        <p:nvPicPr>
          <p:cNvPr id="21" name="Picture 15">
            <a:extLst>
              <a:ext uri="{FF2B5EF4-FFF2-40B4-BE49-F238E27FC236}">
                <a16:creationId xmlns:a16="http://schemas.microsoft.com/office/drawing/2014/main" id="{6BD7828E-4953-9763-56A7-2B13512F3F2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5888A46A-247A-577D-15DD-800B02591DCC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2A968B25-2FB3-8341-4F80-B46C98C8F69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2E7268E1-5537-5DB0-F637-338DFCADF316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AWS 멀티 리전 인프라 설계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20650" y="429895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Routing table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9100" y="5321300"/>
            <a:ext cx="17653000" cy="2717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9100" y="9004300"/>
            <a:ext cx="17653000" cy="21590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9819512C-37BE-0ACB-8FEE-A2A14E8CE3D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5546DE23-6DBD-7729-72EE-B7B0F8F4B325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A676083E-39A6-7E86-DEDD-35055D4117A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87D2A021-A5F9-602E-89B5-535FE807447E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2400" y="43307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보안그룹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27600" y="5181600"/>
            <a:ext cx="16294100" cy="2870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27600" y="9042400"/>
            <a:ext cx="16306800" cy="19558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22E9E014-3FEE-357E-9128-59EC1F6604F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A42050C4-2059-9C0A-0AF6-CF9E14FF251D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0DF685F5-E370-0069-1122-649C916FD58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82BC6915-0042-3901-0EEB-91A40AAC9614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6" name="Picture 13"/>
          <p:cNvPicPr>
            <a:picLocks noChangeAspect="1"/>
          </p:cNvPicPr>
          <p:nvPr/>
        </p:nvPicPr>
        <p:blipFill>
          <a:blip r:embed="rId17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7800" y="11277600"/>
            <a:ext cx="11315700" cy="108428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33715EA-A5BD-4869-A8D7-1CB17C8F35A2}"/>
              </a:ext>
            </a:extLst>
          </p:cNvPr>
          <p:cNvSpPr txBox="1"/>
          <p:nvPr/>
        </p:nvSpPr>
        <p:spPr>
          <a:xfrm>
            <a:off x="8779856" y="11549611"/>
            <a:ext cx="10422544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41100"/>
              </a:lnSpc>
            </a:pP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최소 권한 원칙 기반으로 필요한 포트와 대상만 접근 허용</a:t>
            </a:r>
            <a:endParaRPr lang="en-US" sz="2333" i="0" u="none" strike="noStrike" dirty="0">
              <a:solidFill>
                <a:srgbClr val="000000"/>
              </a:solidFill>
              <a:latin typeface="Pretendard SemiBold" panose="020B0600000101010101" charset="-127"/>
              <a:ea typeface="Pretendard SemiBold" panose="020B0600000101010101" charset="-127"/>
              <a:cs typeface="Pretendard Regula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AWS 멀티 리전 인프라 설계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2400" y="43307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시작 템플릿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67300" y="5715000"/>
            <a:ext cx="15989300" cy="1536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05400" y="9385300"/>
            <a:ext cx="15887700" cy="15494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1B85F6EE-09CB-58D7-15C8-88451DEEA0D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CAF82850-0D64-D2A8-8A95-3D44DE6B8ACD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C9B6075B-C2D5-4D99-5E08-F6C7D32FEEC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3A24BB6A-9376-C9AD-0DEF-A2419C334043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20650" y="42672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Target Group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43400" y="5664200"/>
            <a:ext cx="17157700" cy="1689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19600" y="9347200"/>
            <a:ext cx="170053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15900" y="42672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ALB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600" y="8991600"/>
            <a:ext cx="17221200" cy="1866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5435600"/>
            <a:ext cx="17437100" cy="19050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10071D0C-F2D9-FBDF-9545-ACE3BF09C9E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E7C47B5D-839D-BFD4-49B4-2B7498939FF3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4C7F48BA-A5D0-3815-A601-9E39347C86D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66A0ABE7-CCF3-14CE-0358-306FF7AF3A9D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6" name="Picture 13"/>
          <p:cNvPicPr>
            <a:picLocks noChangeAspect="1"/>
          </p:cNvPicPr>
          <p:nvPr/>
        </p:nvPicPr>
        <p:blipFill>
          <a:blip r:embed="rId17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7800" y="11277600"/>
            <a:ext cx="11315700" cy="108428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33715EA-A5BD-4869-A8D7-1CB17C8F35A2}"/>
              </a:ext>
            </a:extLst>
          </p:cNvPr>
          <p:cNvSpPr txBox="1"/>
          <p:nvPr/>
        </p:nvSpPr>
        <p:spPr>
          <a:xfrm>
            <a:off x="7789256" y="11549611"/>
            <a:ext cx="10422544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41100"/>
              </a:lnSpc>
            </a:pP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외부 트래픽을 단일 </a:t>
            </a:r>
            <a:r>
              <a:rPr lang="ko-KR" altLang="en-US" sz="2400" dirty="0" err="1">
                <a:latin typeface="Pretendard SemiBold" panose="020B0600000101010101" charset="-127"/>
                <a:ea typeface="Pretendard SemiBold" panose="020B0600000101010101" charset="-127"/>
              </a:rPr>
              <a:t>진입점으로</a:t>
            </a: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 통합해 서비스 안정성과 관리 효율성 확보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2400" y="42672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Auto Scaling Group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6900" y="5511800"/>
            <a:ext cx="16878300" cy="2057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3900" y="8991600"/>
            <a:ext cx="16700500" cy="20447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9D24A32C-4865-C483-CB03-EB773E69C16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7AE9615C-AC5E-CEC5-600B-51CC46A5BE5C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71C9F56D-AA37-4FFA-5EE2-50CA154F6AE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4DF3255C-2C53-73C5-6D1E-D75D68EA975F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6" name="Picture 13"/>
          <p:cNvPicPr>
            <a:picLocks noChangeAspect="1"/>
          </p:cNvPicPr>
          <p:nvPr/>
        </p:nvPicPr>
        <p:blipFill>
          <a:blip r:embed="rId17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7800" y="11277600"/>
            <a:ext cx="11315700" cy="108428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33715EA-A5BD-4869-A8D7-1CB17C8F35A2}"/>
              </a:ext>
            </a:extLst>
          </p:cNvPr>
          <p:cNvSpPr txBox="1"/>
          <p:nvPr/>
        </p:nvSpPr>
        <p:spPr>
          <a:xfrm>
            <a:off x="8170256" y="11549611"/>
            <a:ext cx="10422544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41100"/>
              </a:lnSpc>
            </a:pP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트래픽 증가 및 인스턴스 장애에 대비해 자동 확장 및 복구 구조 구성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2400" y="42672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Instance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97400" y="5270500"/>
            <a:ext cx="16878300" cy="2311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7400" y="9093200"/>
            <a:ext cx="16891000" cy="19939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94F620B8-4666-2D82-5D90-51D75261F5E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3F7E6691-C82B-0D75-B1D1-CC955F8C300F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012353A6-52C5-513C-CC92-035E4739ACA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45084A85-1833-7CF5-CA3E-CDDD04D3FF49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8750" y="42672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Transit Gateway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600" y="5600700"/>
            <a:ext cx="16522700" cy="1765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9359900"/>
            <a:ext cx="16522700" cy="14224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3BC1B6E9-1F6A-F5CB-59D6-1911E608E3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7FC15D7A-82DD-7477-85C8-AE4F81F0FEE4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EB3E3940-134A-9F76-68FB-353FFCDFBF8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FA8AAE65-7368-A411-2215-34062F5BCCC7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6" name="Picture 13"/>
          <p:cNvPicPr>
            <a:picLocks noChangeAspect="1"/>
          </p:cNvPicPr>
          <p:nvPr/>
        </p:nvPicPr>
        <p:blipFill>
          <a:blip r:embed="rId17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7800" y="11277600"/>
            <a:ext cx="11315700" cy="108428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33715EA-A5BD-4869-A8D7-1CB17C8F35A2}"/>
              </a:ext>
            </a:extLst>
          </p:cNvPr>
          <p:cNvSpPr txBox="1"/>
          <p:nvPr/>
        </p:nvSpPr>
        <p:spPr>
          <a:xfrm>
            <a:off x="7865456" y="11549611"/>
            <a:ext cx="10422544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41100"/>
              </a:lnSpc>
            </a:pP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네트워크 연결을 중앙에서 관리하여 멀티 </a:t>
            </a:r>
            <a:r>
              <a:rPr lang="ko-KR" altLang="en-US" sz="2400" dirty="0" err="1">
                <a:latin typeface="Pretendard SemiBold" panose="020B0600000101010101" charset="-127"/>
                <a:ea typeface="Pretendard SemiBold" panose="020B0600000101010101" charset="-127"/>
              </a:rPr>
              <a:t>리전</a:t>
            </a:r>
            <a:r>
              <a:rPr lang="en-US" altLang="ko-KR" sz="2400" dirty="0">
                <a:latin typeface="Pretendard SemiBold" panose="020B0600000101010101" charset="-127"/>
                <a:ea typeface="Pretendard SemiBold" panose="020B0600000101010101" charset="-127"/>
              </a:rPr>
              <a:t>·</a:t>
            </a: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멀티 </a:t>
            </a:r>
            <a:r>
              <a:rPr lang="ko-KR" altLang="en-US" sz="2400" dirty="0" err="1">
                <a:latin typeface="Pretendard SemiBold" panose="020B0600000101010101" charset="-127"/>
                <a:ea typeface="Pretendard SemiBold" panose="020B0600000101010101" charset="-127"/>
              </a:rPr>
              <a:t>클라우드</a:t>
            </a: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 확장에 대비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60350" y="4287982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TGA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4400" y="5397500"/>
            <a:ext cx="16827500" cy="2171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4400" y="9169400"/>
            <a:ext cx="16827500" cy="17653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1CCBFBDA-B19B-1DF5-0123-4789CDD955A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A853B894-3139-BAFC-7924-D3DBA508F90F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98984286-7B6B-9CAF-6291-071CC3C4D16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34EB681B-34E4-3F3E-A48F-6A6068FC4C29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4036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54000" y="42672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Transit Gateway Routing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600" y="9372600"/>
            <a:ext cx="16941800" cy="1460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5727700"/>
            <a:ext cx="16891000" cy="18161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57BE2EA4-8218-7337-84FC-1B4D2FDEA1B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603A7C2A-0D98-0856-A808-B37C4AE9147E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F98DECBA-1766-3898-C8A8-F652085F703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7BD2CD2A-CCD6-BB08-7161-171D00AAE61E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2400" y="42672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RDS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7100" y="9131300"/>
            <a:ext cx="16764000" cy="1866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7100" y="5638800"/>
            <a:ext cx="16484600" cy="18161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5AC506AD-530B-65E8-BB04-F413E195038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58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2E395A38-A3E7-5E2A-E19C-287BE425208C}"/>
              </a:ext>
            </a:extLst>
          </p:cNvPr>
          <p:cNvSpPr txBox="1"/>
          <p:nvPr/>
        </p:nvSpPr>
        <p:spPr>
          <a:xfrm>
            <a:off x="20828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7443051A-A3D3-EE5A-94C8-6B817478F98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58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2087C867-9650-04EC-E943-F3E54512C386}"/>
              </a:ext>
            </a:extLst>
          </p:cNvPr>
          <p:cNvSpPr txBox="1"/>
          <p:nvPr/>
        </p:nvSpPr>
        <p:spPr>
          <a:xfrm>
            <a:off x="20955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6" name="Picture 13"/>
          <p:cNvPicPr>
            <a:picLocks noChangeAspect="1"/>
          </p:cNvPicPr>
          <p:nvPr/>
        </p:nvPicPr>
        <p:blipFill>
          <a:blip r:embed="rId17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7800" y="11277600"/>
            <a:ext cx="11315700" cy="108428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33715EA-A5BD-4869-A8D7-1CB17C8F35A2}"/>
              </a:ext>
            </a:extLst>
          </p:cNvPr>
          <p:cNvSpPr txBox="1"/>
          <p:nvPr/>
        </p:nvSpPr>
        <p:spPr>
          <a:xfrm>
            <a:off x="8627456" y="11549611"/>
            <a:ext cx="10422544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41100"/>
              </a:lnSpc>
            </a:pP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서비스 연속성을 고려해 </a:t>
            </a:r>
            <a:r>
              <a:rPr lang="en-US" altLang="ko-KR" sz="2400" dirty="0">
                <a:latin typeface="Pretendard SemiBold" panose="020B0600000101010101" charset="-127"/>
                <a:ea typeface="Pretendard SemiBold" panose="020B0600000101010101" charset="-127"/>
              </a:rPr>
              <a:t>DR </a:t>
            </a: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시나리오 기반 데이터 구조 설계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4300" y="52578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12800" y="54102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S3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73300" y="6007100"/>
            <a:ext cx="13881100" cy="3606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27200" y="4864100"/>
            <a:ext cx="3175000" cy="762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2573000" y="50165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Open VPN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246600" y="4330700"/>
            <a:ext cx="42037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2400" y="42672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S3 bucket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89600" y="4572000"/>
            <a:ext cx="14732000" cy="3098799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89600" y="7861300"/>
            <a:ext cx="14732000" cy="32893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0EBFFC02-CD89-C1E1-1607-07FD161401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321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F9353C4E-E5F8-2821-B30F-B10A37C2D685}"/>
              </a:ext>
            </a:extLst>
          </p:cNvPr>
          <p:cNvSpPr txBox="1"/>
          <p:nvPr/>
        </p:nvSpPr>
        <p:spPr>
          <a:xfrm>
            <a:off x="29591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7A2B020C-FD7E-3EF4-334F-A8FA3C526CB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321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B983771A-A6AE-92A6-1416-AF583D81DFB9}"/>
              </a:ext>
            </a:extLst>
          </p:cNvPr>
          <p:cNvSpPr txBox="1"/>
          <p:nvPr/>
        </p:nvSpPr>
        <p:spPr>
          <a:xfrm>
            <a:off x="29718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6" name="Picture 13"/>
          <p:cNvPicPr>
            <a:picLocks noChangeAspect="1"/>
          </p:cNvPicPr>
          <p:nvPr/>
        </p:nvPicPr>
        <p:blipFill>
          <a:blip r:embed="rId17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7800" y="11277600"/>
            <a:ext cx="11315700" cy="108428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33715EA-A5BD-4869-A8D7-1CB17C8F35A2}"/>
              </a:ext>
            </a:extLst>
          </p:cNvPr>
          <p:cNvSpPr txBox="1"/>
          <p:nvPr/>
        </p:nvSpPr>
        <p:spPr>
          <a:xfrm>
            <a:off x="7636856" y="11549611"/>
            <a:ext cx="10422544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41100"/>
              </a:lnSpc>
            </a:pP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이미지 파일은 </a:t>
            </a:r>
            <a:r>
              <a:rPr lang="ko-KR" altLang="en-US" sz="2400" dirty="0" err="1">
                <a:latin typeface="Pretendard SemiBold" panose="020B0600000101010101" charset="-127"/>
                <a:ea typeface="Pretendard SemiBold" panose="020B0600000101010101" charset="-127"/>
              </a:rPr>
              <a:t>스토리지에</a:t>
            </a: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 분리 저장하여 </a:t>
            </a:r>
            <a:r>
              <a:rPr lang="en-US" altLang="ko-KR" sz="2400" dirty="0">
                <a:latin typeface="Pretendard SemiBold" panose="020B0600000101010101" charset="-127"/>
                <a:ea typeface="Pretendard SemiBold" panose="020B0600000101010101" charset="-127"/>
              </a:rPr>
              <a:t>DB </a:t>
            </a: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부하를 최소화하고 확장성 확보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91655" y="428625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2533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보호</a:t>
            </a: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팩 ACL 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6300" y="8102600"/>
            <a:ext cx="14617700" cy="3835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6300" y="4191000"/>
            <a:ext cx="14617700" cy="38354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ECED6770-D1E3-BD09-0734-3A9431ACC89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321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45DA4E58-530C-8B3D-F726-9EDC5D283C41}"/>
              </a:ext>
            </a:extLst>
          </p:cNvPr>
          <p:cNvSpPr txBox="1"/>
          <p:nvPr/>
        </p:nvSpPr>
        <p:spPr>
          <a:xfrm>
            <a:off x="29591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A886ACAD-8CB2-1EA0-5A68-AD97DA3C165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321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864375FA-7D21-E07E-5240-9DA9ABC5A250}"/>
              </a:ext>
            </a:extLst>
          </p:cNvPr>
          <p:cNvSpPr txBox="1"/>
          <p:nvPr/>
        </p:nvSpPr>
        <p:spPr>
          <a:xfrm>
            <a:off x="29718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6" name="Picture 13"/>
          <p:cNvPicPr>
            <a:picLocks noChangeAspect="1"/>
          </p:cNvPicPr>
          <p:nvPr/>
        </p:nvPicPr>
        <p:blipFill>
          <a:blip r:embed="rId17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7800" y="11277600"/>
            <a:ext cx="11315700" cy="108428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33715EA-A5BD-4869-A8D7-1CB17C8F35A2}"/>
              </a:ext>
            </a:extLst>
          </p:cNvPr>
          <p:cNvSpPr txBox="1"/>
          <p:nvPr/>
        </p:nvSpPr>
        <p:spPr>
          <a:xfrm>
            <a:off x="7941656" y="11549611"/>
            <a:ext cx="10422544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41100"/>
              </a:lnSpc>
            </a:pP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애플리케이션 수정 없이 웹 공격을 사전에 차단하기 위한 보안 계층 구성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2400" y="43307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WAF Role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14700" y="6413500"/>
            <a:ext cx="6172200" cy="500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55800" y="5397500"/>
            <a:ext cx="1739900" cy="17399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070100" y="608330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33100" y="6413500"/>
            <a:ext cx="6172200" cy="5003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86900" y="5397500"/>
            <a:ext cx="1739900" cy="17399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9626600" y="612140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7">
            <a:alphaModFix amt="60000"/>
          </a:blip>
          <a:stretch>
            <a:fillRect/>
          </a:stretch>
        </p:blipFill>
        <p:spPr>
          <a:xfrm>
            <a:off x="17322800" y="6438900"/>
            <a:ext cx="5549900" cy="48387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7449800" y="6629400"/>
            <a:ext cx="5511800" cy="447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allow-dashboard-php: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관리자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페이지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정상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  <a:p>
            <a:pPr lvl="0" algn="l">
              <a:lnSpc>
                <a:spcPct val="132800"/>
              </a:lnSpc>
            </a:pP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접근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보장용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예외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규칙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CommonRuleSet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일반적인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웹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취약점</a:t>
            </a:r>
            <a:endParaRPr lang="en-US" sz="2478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32800"/>
              </a:lnSpc>
            </a:pP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전반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차단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KnownBadInputs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악성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시그니처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차단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SQLi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데이터베이스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공격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방어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Linux: OS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레벨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공격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방어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PHP: PHP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웹앱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특화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공격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방어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AnonymousIpList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익명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트래픽</a:t>
            </a:r>
            <a:r>
              <a:rPr lang="en-US" sz="24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차단</a:t>
            </a:r>
            <a:endParaRPr lang="en-US" sz="2478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41656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8750" y="42672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ACM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8300" y="5435600"/>
            <a:ext cx="16344900" cy="1828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48300" y="9232900"/>
            <a:ext cx="16344900" cy="1828800"/>
          </a:xfrm>
          <a:prstGeom prst="rect">
            <a:avLst/>
          </a:prstGeom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9F77E127-E4CB-9C17-DCBF-A8D97DC4112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32100" y="5638800"/>
            <a:ext cx="1739900" cy="17399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024AA89F-4F72-B085-5FB9-83CFB550E96A}"/>
              </a:ext>
            </a:extLst>
          </p:cNvPr>
          <p:cNvSpPr txBox="1"/>
          <p:nvPr/>
        </p:nvSpPr>
        <p:spPr>
          <a:xfrm>
            <a:off x="2959100" y="6254750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6F10197E-AE72-20B7-3B17-CB622D86B40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32100" y="9194800"/>
            <a:ext cx="1739900" cy="1739900"/>
          </a:xfrm>
          <a:prstGeom prst="rect">
            <a:avLst/>
          </a:prstGeom>
        </p:spPr>
      </p:pic>
      <p:sp>
        <p:nvSpPr>
          <p:cNvPr id="24" name="TextBox 18">
            <a:extLst>
              <a:ext uri="{FF2B5EF4-FFF2-40B4-BE49-F238E27FC236}">
                <a16:creationId xmlns:a16="http://schemas.microsoft.com/office/drawing/2014/main" id="{8A26E692-540D-753C-7F97-8515E83A59C6}"/>
              </a:ext>
            </a:extLst>
          </p:cNvPr>
          <p:cNvSpPr txBox="1"/>
          <p:nvPr/>
        </p:nvSpPr>
        <p:spPr>
          <a:xfrm>
            <a:off x="2971800" y="9821862"/>
            <a:ext cx="1460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05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도쿄</a:t>
            </a:r>
            <a:endParaRPr lang="en-US" sz="205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19400" y="4648200"/>
            <a:ext cx="3175000" cy="762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977900" y="4724400"/>
            <a:ext cx="6870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CloudWatch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2400" y="5372100"/>
            <a:ext cx="19075400" cy="64389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인프라 구현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9800" y="43180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92250" y="44069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Route 53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32000" y="4965700"/>
            <a:ext cx="10541000" cy="5372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52400" y="5791200"/>
            <a:ext cx="3302000" cy="762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2192000" y="59309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Route 53 Health Check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560300" y="6553200"/>
            <a:ext cx="10071100" cy="2197100"/>
          </a:xfrm>
          <a:prstGeom prst="rect">
            <a:avLst/>
          </a:prstGeom>
        </p:spPr>
      </p:pic>
      <p:pic>
        <p:nvPicPr>
          <p:cNvPr id="21" name="Picture 13"/>
          <p:cNvPicPr>
            <a:picLocks noChangeAspect="1"/>
          </p:cNvPicPr>
          <p:nvPr/>
        </p:nvPicPr>
        <p:blipFill>
          <a:blip r:embed="rId16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7800" y="11277600"/>
            <a:ext cx="11315700" cy="108428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33715EA-A5BD-4869-A8D7-1CB17C8F35A2}"/>
              </a:ext>
            </a:extLst>
          </p:cNvPr>
          <p:cNvSpPr txBox="1"/>
          <p:nvPr/>
        </p:nvSpPr>
        <p:spPr>
          <a:xfrm>
            <a:off x="8305800" y="11549611"/>
            <a:ext cx="10422544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41100"/>
              </a:lnSpc>
            </a:pPr>
            <a:r>
              <a:rPr lang="ko-KR" altLang="en-US" sz="2400" dirty="0">
                <a:latin typeface="Pretendard SemiBold" panose="020B0600000101010101" charset="-127"/>
                <a:ea typeface="Pretendard SemiBold" panose="020B0600000101010101" charset="-127"/>
              </a:rPr>
              <a:t>서비스 상태를 기반으로 장애 발생 시 트래픽 전환 가능하도록 구성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57200"/>
            <a:ext cx="8216900" cy="1417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700" y="7200900"/>
            <a:ext cx="1371600" cy="137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1468100" y="7670800"/>
            <a:ext cx="40640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99" b="0" i="0" u="none" strike="noStrike" spc="-10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인프라 설계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12300" y="8153400"/>
            <a:ext cx="1422400" cy="266700"/>
          </a:xfrm>
          <a:prstGeom prst="rect">
            <a:avLst/>
          </a:prstGeom>
        </p:spPr>
        <p:txBody>
          <a:bodyPr lIns="0" tIns="50290" rIns="0" bIns="50290" rtlCol="0" anchor="ctr"/>
          <a:lstStyle/>
          <a:p>
            <a:pPr lvl="0" algn="ctr">
              <a:lnSpc>
                <a:spcPct val="71380"/>
              </a:lnSpc>
            </a:pPr>
            <a:r>
              <a:rPr lang="en-US" sz="1466" b="0" i="0" u="none" strike="noStrike" cap="all" spc="40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GOALS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50400" y="7442200"/>
            <a:ext cx="1282700" cy="863600"/>
          </a:xfrm>
          <a:prstGeom prst="rect">
            <a:avLst/>
          </a:prstGeom>
        </p:spPr>
        <p:txBody>
          <a:bodyPr lIns="0" tIns="167544" rIns="0" bIns="167544" rtlCol="0" anchor="ctr"/>
          <a:lstStyle/>
          <a:p>
            <a:pPr lvl="0" algn="ctr">
              <a:lnSpc>
                <a:spcPct val="71380"/>
              </a:lnSpc>
            </a:pPr>
            <a:r>
              <a:rPr lang="en-US" sz="4886" b="0" i="0" u="none" strike="noStrike" cap="all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700" y="9245600"/>
            <a:ext cx="1371600" cy="1371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512300" y="10198100"/>
            <a:ext cx="1422400" cy="266700"/>
          </a:xfrm>
          <a:prstGeom prst="rect">
            <a:avLst/>
          </a:prstGeom>
        </p:spPr>
        <p:txBody>
          <a:bodyPr lIns="0" tIns="50290" rIns="0" bIns="50290" rtlCol="0" anchor="ctr"/>
          <a:lstStyle/>
          <a:p>
            <a:pPr lvl="0" algn="ctr">
              <a:lnSpc>
                <a:spcPct val="71380"/>
              </a:lnSpc>
            </a:pPr>
            <a:r>
              <a:rPr lang="en-US" sz="1466" b="0" i="0" u="none" strike="noStrike" cap="all" spc="40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GOALS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50400" y="9474200"/>
            <a:ext cx="1282700" cy="863600"/>
          </a:xfrm>
          <a:prstGeom prst="rect">
            <a:avLst/>
          </a:prstGeom>
        </p:spPr>
        <p:txBody>
          <a:bodyPr lIns="0" tIns="167544" rIns="0" bIns="167544" rtlCol="0" anchor="ctr"/>
          <a:lstStyle/>
          <a:p>
            <a:pPr lvl="0" algn="ctr">
              <a:lnSpc>
                <a:spcPct val="71380"/>
              </a:lnSpc>
            </a:pPr>
            <a:r>
              <a:rPr lang="en-US" sz="4886" b="0" i="0" u="none" strike="noStrike" cap="all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700" y="11290300"/>
            <a:ext cx="1371600" cy="1371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468100" y="11760200"/>
            <a:ext cx="40640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99" b="0" i="0" u="none" strike="noStrike" spc="-10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보안 및 서비스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12300" y="12242800"/>
            <a:ext cx="1422400" cy="266700"/>
          </a:xfrm>
          <a:prstGeom prst="rect">
            <a:avLst/>
          </a:prstGeom>
        </p:spPr>
        <p:txBody>
          <a:bodyPr lIns="0" tIns="50290" rIns="0" bIns="50290" rtlCol="0" anchor="ctr"/>
          <a:lstStyle/>
          <a:p>
            <a:pPr lvl="0" algn="ctr">
              <a:lnSpc>
                <a:spcPct val="71380"/>
              </a:lnSpc>
            </a:pPr>
            <a:r>
              <a:rPr lang="en-US" sz="1466" b="0" i="0" u="none" strike="noStrike" cap="all" spc="40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GOALS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50400" y="11518900"/>
            <a:ext cx="1282700" cy="863600"/>
          </a:xfrm>
          <a:prstGeom prst="rect">
            <a:avLst/>
          </a:prstGeom>
        </p:spPr>
        <p:txBody>
          <a:bodyPr lIns="0" tIns="167544" rIns="0" bIns="167544" rtlCol="0" anchor="ctr"/>
          <a:lstStyle/>
          <a:p>
            <a:pPr lvl="0" algn="ctr">
              <a:lnSpc>
                <a:spcPct val="71380"/>
              </a:lnSpc>
            </a:pPr>
            <a:r>
              <a:rPr lang="en-US" sz="4886" b="0" i="0" u="none" strike="noStrike" cap="all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700" y="8890000"/>
            <a:ext cx="56261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700" y="10934700"/>
            <a:ext cx="5626100" cy="25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623300" y="1943100"/>
            <a:ext cx="4521200" cy="952500"/>
          </a:xfrm>
          <a:prstGeom prst="rect">
            <a:avLst/>
          </a:prstGeom>
        </p:spPr>
        <p:txBody>
          <a:bodyPr lIns="0" tIns="55243" rIns="0" bIns="55243" rtlCol="0" anchor="ctr"/>
          <a:lstStyle/>
          <a:p>
            <a:pPr lvl="0" algn="l">
              <a:lnSpc>
                <a:spcPct val="92130"/>
              </a:lnSpc>
            </a:pPr>
            <a:r>
              <a:rPr lang="en-US" sz="2999" b="0" i="0" u="none" strike="noStrike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Field Operations Management 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97900" y="2781300"/>
            <a:ext cx="9512300" cy="1485900"/>
          </a:xfrm>
          <a:prstGeom prst="rect">
            <a:avLst/>
          </a:prstGeom>
        </p:spPr>
        <p:txBody>
          <a:bodyPr lIns="0" tIns="117066" rIns="0" bIns="117066" rtlCol="0" anchor="ctr"/>
          <a:lstStyle/>
          <a:p>
            <a:pPr lvl="0" algn="l">
              <a:lnSpc>
                <a:spcPct val="97940"/>
              </a:lnSpc>
            </a:pPr>
            <a:r>
              <a:rPr lang="en-US" sz="8379" b="1" i="0" u="none" strike="noStrike" dirty="0" err="1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AZure</a:t>
            </a:r>
            <a:r>
              <a:rPr lang="en-US" sz="8379" b="1" i="0" u="none" strike="noStrike" dirty="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8379" b="1" i="0" u="none" strike="noStrike" dirty="0" err="1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설계</a:t>
            </a:r>
            <a:endParaRPr lang="en-US" sz="8379" b="1" i="0" u="none" strike="noStrike" dirty="0">
              <a:solidFill>
                <a:srgbClr val="3D3D3D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0900" y="-584200"/>
            <a:ext cx="3810000" cy="255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1442702" y="9742055"/>
            <a:ext cx="40640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 spc="-100" dirty="0" err="1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lang="en-US" sz="2266" b="0" i="0" u="none" strike="noStrike" spc="-100" dirty="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100" dirty="0" err="1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저장</a:t>
            </a:r>
            <a:r>
              <a:rPr lang="en-US" sz="2266" b="0" i="0" u="none" strike="noStrike" spc="-100" dirty="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266" b="0" i="0" u="none" strike="noStrike" spc="-100" dirty="0" err="1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설계</a:t>
            </a:r>
            <a:endParaRPr lang="en-US" sz="2266" b="0" i="0" u="none" strike="noStrike" spc="-100" dirty="0">
              <a:solidFill>
                <a:srgbClr val="3D3D3D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0" name="TextBox 20"/>
          <p:cNvSpPr txBox="1"/>
          <p:nvPr/>
        </p:nvSpPr>
        <p:spPr>
          <a:xfrm rot="16200000">
            <a:off x="-1371600" y="12738100"/>
            <a:ext cx="38989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599" b="0" i="0" u="none" strike="noStrike" cap="all">
                <a:solidFill>
                  <a:srgbClr val="F2F2E4"/>
                </a:solidFill>
                <a:latin typeface="Pretendard Regular"/>
                <a:ea typeface="Pretendard Regular"/>
                <a:cs typeface="Pretendard Regular"/>
              </a:rPr>
              <a:t>www. AScensio.cloud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76D367C-D6D9-4B51-B399-E3C7B276CF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850" y="3127375"/>
            <a:ext cx="7225859" cy="70072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Azure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4559300"/>
            <a:ext cx="33401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816100" y="4711700"/>
            <a:ext cx="4610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Resource Group 관리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60000"/>
          </a:blip>
          <a:stretch>
            <a:fillRect/>
          </a:stretch>
        </p:blipFill>
        <p:spPr>
          <a:xfrm>
            <a:off x="6096000" y="8623300"/>
            <a:ext cx="11518900" cy="16891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270250" y="9067800"/>
            <a:ext cx="169799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78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DR </a:t>
            </a:r>
            <a:r>
              <a:rPr lang="en-US" sz="3278" i="0" u="none" strike="noStrike" spc="-2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환경</a:t>
            </a:r>
            <a:r>
              <a:rPr lang="en-US" sz="3278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250" i="0" u="none" strike="noStrike" spc="-2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리소스를</a:t>
            </a:r>
            <a:r>
              <a:rPr lang="en-US" sz="3278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278" i="0" u="none" strike="noStrike" spc="-2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하나의</a:t>
            </a:r>
            <a:r>
              <a:rPr lang="en-US" sz="3278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278" i="0" u="none" strike="noStrike" spc="-2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논리</a:t>
            </a:r>
            <a:r>
              <a:rPr lang="en-US" sz="3278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278" i="0" u="none" strike="noStrike" spc="-2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단위로</a:t>
            </a:r>
            <a:r>
              <a:rPr lang="en-US" sz="3278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278" i="0" u="none" strike="noStrike" spc="-2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관리</a:t>
            </a:r>
            <a:endParaRPr lang="en-US" sz="3278" i="0" u="none" strike="noStrike" spc="-2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76500" y="5321300"/>
            <a:ext cx="185674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Azure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9800" y="4584700"/>
            <a:ext cx="31623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85900" y="47244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Composer 및 SDK 설치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60000"/>
          </a:blip>
          <a:stretch>
            <a:fillRect/>
          </a:stretch>
        </p:blipFill>
        <p:spPr>
          <a:xfrm>
            <a:off x="3238500" y="9550400"/>
            <a:ext cx="17627600" cy="16891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517900" y="10058400"/>
            <a:ext cx="169799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PHP 웹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서비스에서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Azure Storage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연동을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위한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SDK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구성</a:t>
            </a:r>
            <a:endParaRPr lang="en-US" sz="3278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49900" y="5549900"/>
            <a:ext cx="13271500" cy="3606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Azure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60000"/>
          </a:blip>
          <a:stretch>
            <a:fillRect/>
          </a:stretch>
        </p:blipFill>
        <p:spPr>
          <a:xfrm>
            <a:off x="3378200" y="10020300"/>
            <a:ext cx="17627600" cy="1689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467100" y="10515600"/>
            <a:ext cx="169799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Blob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서비스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접근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방식과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네트워크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보안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관련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설정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현황</a:t>
            </a:r>
            <a:endParaRPr lang="en-US" sz="3278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46400" y="5295900"/>
            <a:ext cx="18491200" cy="4330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25700" y="4533900"/>
            <a:ext cx="3175000" cy="762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701800" y="46863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Storage Account 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Azure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9800" y="45847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85900" y="47244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Storage 이중화 전략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60000"/>
          </a:blip>
          <a:stretch>
            <a:fillRect/>
          </a:stretch>
        </p:blipFill>
        <p:spPr>
          <a:xfrm>
            <a:off x="7429500" y="8915400"/>
            <a:ext cx="9067800" cy="16891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473450" y="9364518"/>
            <a:ext cx="169799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비용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효율을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고려한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로컬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이중화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스토리지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구성</a:t>
            </a:r>
            <a:endParaRPr lang="en-US" sz="3278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06900" y="5651500"/>
            <a:ext cx="15570200" cy="25019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Azure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9800" y="45847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85900" y="47244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환경 변수 활성화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60000"/>
          </a:blip>
          <a:stretch>
            <a:fillRect/>
          </a:stretch>
        </p:blipFill>
        <p:spPr>
          <a:xfrm>
            <a:off x="3238500" y="8940800"/>
            <a:ext cx="17627600" cy="16891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568700" y="9448800"/>
            <a:ext cx="169799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Apache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환경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변수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설정을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통해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Azure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리소스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정보를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서버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레벨에서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</a:t>
            </a:r>
            <a:endParaRPr lang="en-US" sz="3278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23000" y="5499100"/>
            <a:ext cx="119507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Azure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9800" y="45847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85900" y="47244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Azure Policy 정책 확인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60000"/>
          </a:blip>
          <a:stretch>
            <a:fillRect/>
          </a:stretch>
        </p:blipFill>
        <p:spPr>
          <a:xfrm>
            <a:off x="6223000" y="8940800"/>
            <a:ext cx="11506200" cy="16891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486150" y="9398000"/>
            <a:ext cx="169799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Storage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계정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Public Access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여부를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지속적으로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감시하는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정책</a:t>
            </a:r>
            <a:endParaRPr lang="en-US" sz="3278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0" y="5943600"/>
            <a:ext cx="18465800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Azure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9800" y="4584700"/>
            <a:ext cx="317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85900" y="47244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Azure Policy </a:t>
            </a:r>
            <a:r>
              <a:rPr lang="en-US" sz="2533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예외</a:t>
            </a: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33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설정</a:t>
            </a:r>
            <a:endParaRPr lang="en-US" sz="2533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60000"/>
          </a:blip>
          <a:stretch>
            <a:fillRect/>
          </a:stretch>
        </p:blipFill>
        <p:spPr>
          <a:xfrm>
            <a:off x="3378200" y="9169400"/>
            <a:ext cx="17627600" cy="16891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708400" y="9677400"/>
            <a:ext cx="169799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Azure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기본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보안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정책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중,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서비스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요구사항으로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인해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필요한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항목을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Exemption으로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</a:t>
            </a:r>
            <a:endParaRPr lang="en-US" sz="3278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64000" y="5321300"/>
            <a:ext cx="1624330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3784600"/>
            <a:ext cx="208788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32000" y="2527300"/>
            <a:ext cx="126619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Azure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3162300" cy="571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17653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구현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4559300"/>
            <a:ext cx="33401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816100" y="47117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Blob 컨테이너 접근 정책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60000"/>
          </a:blip>
          <a:stretch>
            <a:fillRect/>
          </a:stretch>
        </p:blipFill>
        <p:spPr>
          <a:xfrm>
            <a:off x="6096000" y="8724900"/>
            <a:ext cx="11518900" cy="16891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175000" y="9220200"/>
            <a:ext cx="169799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Blob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파일만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익명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읽기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허용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컨테이너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목록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접근은</a:t>
            </a:r>
            <a:r>
              <a:rPr lang="en-US" sz="3278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78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차단</a:t>
            </a:r>
            <a:endParaRPr lang="en-US" sz="3278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76500" y="5321300"/>
            <a:ext cx="19037300" cy="28448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57200"/>
            <a:ext cx="13220700" cy="1417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9600" y="7200900"/>
            <a:ext cx="1371600" cy="137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510000" y="7670800"/>
            <a:ext cx="40640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99" b="0" i="0" u="none" strike="noStrike" spc="-10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작업자 - 관리자 로그인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541500" y="8153400"/>
            <a:ext cx="1422400" cy="266700"/>
          </a:xfrm>
          <a:prstGeom prst="rect">
            <a:avLst/>
          </a:prstGeom>
        </p:spPr>
        <p:txBody>
          <a:bodyPr lIns="0" tIns="50290" rIns="0" bIns="50290" rtlCol="0" anchor="ctr"/>
          <a:lstStyle/>
          <a:p>
            <a:pPr lvl="0" algn="ctr">
              <a:lnSpc>
                <a:spcPct val="71380"/>
              </a:lnSpc>
            </a:pPr>
            <a:r>
              <a:rPr lang="en-US" sz="1466" b="0" i="0" u="none" strike="noStrike" cap="all" spc="40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GOALS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92300" y="7442200"/>
            <a:ext cx="1282700" cy="863600"/>
          </a:xfrm>
          <a:prstGeom prst="rect">
            <a:avLst/>
          </a:prstGeom>
        </p:spPr>
        <p:txBody>
          <a:bodyPr lIns="0" tIns="167544" rIns="0" bIns="167544" rtlCol="0" anchor="ctr"/>
          <a:lstStyle/>
          <a:p>
            <a:pPr lvl="0" algn="ctr">
              <a:lnSpc>
                <a:spcPct val="71380"/>
              </a:lnSpc>
            </a:pPr>
            <a:r>
              <a:rPr lang="en-US" sz="4886" b="0" i="0" u="none" strike="noStrike" cap="all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 rot="16200000">
            <a:off x="-1511300" y="12915900"/>
            <a:ext cx="38989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599" b="0" i="0" u="none" strike="noStrike" cap="all">
                <a:solidFill>
                  <a:srgbClr val="F2F2E4"/>
                </a:solidFill>
                <a:latin typeface="Pretendard Regular"/>
                <a:ea typeface="Pretendard Regular"/>
                <a:cs typeface="Pretendard Regular"/>
              </a:rPr>
              <a:t>www. AScensio.cloud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9600" y="9245600"/>
            <a:ext cx="1371600" cy="13716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510000" y="9715500"/>
            <a:ext cx="40640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99" b="0" i="0" u="none" strike="noStrike" spc="-10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작업 할당 및 보고서 제출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541500" y="10198100"/>
            <a:ext cx="1422400" cy="266700"/>
          </a:xfrm>
          <a:prstGeom prst="rect">
            <a:avLst/>
          </a:prstGeom>
        </p:spPr>
        <p:txBody>
          <a:bodyPr lIns="0" tIns="50290" rIns="0" bIns="50290" rtlCol="0" anchor="ctr"/>
          <a:lstStyle/>
          <a:p>
            <a:pPr lvl="0" algn="ctr">
              <a:lnSpc>
                <a:spcPct val="71380"/>
              </a:lnSpc>
            </a:pPr>
            <a:r>
              <a:rPr lang="en-US" sz="1466" b="0" i="0" u="none" strike="noStrike" cap="all" spc="40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GOALS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92300" y="9474200"/>
            <a:ext cx="1282700" cy="863600"/>
          </a:xfrm>
          <a:prstGeom prst="rect">
            <a:avLst/>
          </a:prstGeom>
        </p:spPr>
        <p:txBody>
          <a:bodyPr lIns="0" tIns="167544" rIns="0" bIns="167544" rtlCol="0" anchor="ctr"/>
          <a:lstStyle/>
          <a:p>
            <a:pPr lvl="0" algn="ctr">
              <a:lnSpc>
                <a:spcPct val="71380"/>
              </a:lnSpc>
            </a:pPr>
            <a:r>
              <a:rPr lang="en-US" sz="4886" b="0" i="0" u="none" strike="noStrike" cap="all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9600" y="11290300"/>
            <a:ext cx="1371600" cy="1371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510000" y="11760200"/>
            <a:ext cx="40640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99" b="0" i="0" u="none" strike="noStrike" spc="-10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작업 확인 및 삭제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41500" y="12242800"/>
            <a:ext cx="1422400" cy="266700"/>
          </a:xfrm>
          <a:prstGeom prst="rect">
            <a:avLst/>
          </a:prstGeom>
        </p:spPr>
        <p:txBody>
          <a:bodyPr lIns="0" tIns="50290" rIns="0" bIns="50290" rtlCol="0" anchor="ctr"/>
          <a:lstStyle/>
          <a:p>
            <a:pPr lvl="0" algn="ctr">
              <a:lnSpc>
                <a:spcPct val="71380"/>
              </a:lnSpc>
            </a:pPr>
            <a:r>
              <a:rPr lang="en-US" sz="1466" b="0" i="0" u="none" strike="noStrike" cap="all" spc="400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GOALS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92300" y="11518900"/>
            <a:ext cx="1282700" cy="863600"/>
          </a:xfrm>
          <a:prstGeom prst="rect">
            <a:avLst/>
          </a:prstGeom>
        </p:spPr>
        <p:txBody>
          <a:bodyPr lIns="0" tIns="167544" rIns="0" bIns="167544" rtlCol="0" anchor="ctr"/>
          <a:lstStyle/>
          <a:p>
            <a:pPr lvl="0" algn="ctr">
              <a:lnSpc>
                <a:spcPct val="71380"/>
              </a:lnSpc>
            </a:pPr>
            <a:r>
              <a:rPr lang="en-US" sz="4886" b="0" i="0" u="none" strike="noStrike" cap="all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79600" y="8890000"/>
            <a:ext cx="56261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79600" y="10934700"/>
            <a:ext cx="5626100" cy="25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3830300" y="1828800"/>
            <a:ext cx="4521200" cy="939800"/>
          </a:xfrm>
          <a:prstGeom prst="rect">
            <a:avLst/>
          </a:prstGeom>
        </p:spPr>
        <p:txBody>
          <a:bodyPr lIns="0" tIns="62863" rIns="0" bIns="62863" rtlCol="0" anchor="ctr"/>
          <a:lstStyle/>
          <a:p>
            <a:pPr lvl="0" algn="l">
              <a:lnSpc>
                <a:spcPct val="88810"/>
              </a:lnSpc>
            </a:pPr>
            <a:r>
              <a:rPr lang="en-US" sz="2999" b="0" i="0" u="none" strike="noStrike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Field Operations Management System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30300" y="2667000"/>
            <a:ext cx="9512300" cy="1485900"/>
          </a:xfrm>
          <a:prstGeom prst="rect">
            <a:avLst/>
          </a:prstGeom>
        </p:spPr>
        <p:txBody>
          <a:bodyPr lIns="0" tIns="117066" rIns="0" bIns="117066" rtlCol="0" anchor="ctr"/>
          <a:lstStyle/>
          <a:p>
            <a:pPr lvl="0" algn="l">
              <a:lnSpc>
                <a:spcPct val="97940"/>
              </a:lnSpc>
            </a:pPr>
            <a:r>
              <a:rPr lang="en-US" sz="8379" b="1" i="0" u="none" strike="noStrike">
                <a:solidFill>
                  <a:srgbClr val="3D3D3D"/>
                </a:solidFill>
                <a:latin typeface="Pretendard Regular"/>
                <a:ea typeface="Pretendard Regular"/>
                <a:cs typeface="Pretendard Regular"/>
              </a:rPr>
              <a:t>웹 페이지 설계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15300" y="-457200"/>
            <a:ext cx="3810000" cy="2552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7600" y="2095500"/>
            <a:ext cx="10998200" cy="87757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2247900" cy="571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46300" y="1765300"/>
            <a:ext cx="1854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설계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55400" y="5245100"/>
            <a:ext cx="6197600" cy="5613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71200" y="4699000"/>
            <a:ext cx="3492500" cy="800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172700" y="4851400"/>
            <a:ext cx="48387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ko-KR" altLang="en-US" sz="2654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</a:t>
            </a:r>
            <a:r>
              <a:rPr lang="en-US" sz="2654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54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페이지</a:t>
            </a:r>
            <a:endParaRPr lang="en-US" sz="2654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51100" y="5067300"/>
            <a:ext cx="7442200" cy="5943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0200" y="4699000"/>
            <a:ext cx="3340100" cy="762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927100" y="48514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ko-KR" altLang="en-US" sz="2533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홈페이지</a:t>
            </a:r>
            <a:endParaRPr lang="en-US" sz="2533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159000" y="24892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웹 페이지 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52600" y="3632200"/>
            <a:ext cx="20878800" cy="50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>
            <a:alphaModFix amt="60000"/>
          </a:blip>
          <a:stretch>
            <a:fillRect/>
          </a:stretch>
        </p:blipFill>
        <p:spPr>
          <a:xfrm>
            <a:off x="17830800" y="6858000"/>
            <a:ext cx="4508500" cy="19050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7995900" y="7010400"/>
            <a:ext cx="47244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444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2444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사용자는</a:t>
            </a:r>
            <a:r>
              <a:rPr lang="en-US" sz="2444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44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다음</a:t>
            </a:r>
            <a:r>
              <a:rPr lang="en-US" sz="2444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중 </a:t>
            </a:r>
            <a:r>
              <a:rPr lang="en-US" sz="2444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하나의</a:t>
            </a:r>
            <a:r>
              <a:rPr lang="en-US" sz="2444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44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동작을</a:t>
            </a:r>
            <a:r>
              <a:rPr lang="en-US" sz="2444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44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선택</a:t>
            </a:r>
            <a:r>
              <a:rPr lang="en-US" sz="2444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 -  </a:t>
            </a:r>
            <a:r>
              <a:rPr lang="en-US" sz="2444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로그인</a:t>
            </a:r>
            <a:r>
              <a:rPr lang="en-US" sz="2444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44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진행</a:t>
            </a:r>
            <a:r>
              <a:rPr lang="en-US" sz="2444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 - </a:t>
            </a:r>
            <a:r>
              <a:rPr lang="en-US" sz="2444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회원가입</a:t>
            </a:r>
            <a:r>
              <a:rPr lang="en-US" sz="2444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44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페이지</a:t>
            </a:r>
            <a:r>
              <a:rPr lang="en-US" sz="2444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44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이동</a:t>
            </a:r>
            <a:endParaRPr lang="en-US" sz="2444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2247900" cy="571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46300" y="1765300"/>
            <a:ext cx="1854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설계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59000" y="24892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웹 페이지 - 관리자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600" y="3632200"/>
            <a:ext cx="20878800" cy="50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01700" y="5295900"/>
            <a:ext cx="5994400" cy="5613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36800" y="5219700"/>
            <a:ext cx="5854700" cy="5943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54200" y="4699000"/>
            <a:ext cx="3340100" cy="762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193800" y="48514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회원가입 페이지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814300" y="4724400"/>
            <a:ext cx="3340100" cy="762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2141200" y="48641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회원가입 완료 페이지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6">
            <a:alphaModFix amt="60000"/>
          </a:blip>
          <a:stretch>
            <a:fillRect/>
          </a:stretch>
        </p:blipFill>
        <p:spPr>
          <a:xfrm>
            <a:off x="8356600" y="6337300"/>
            <a:ext cx="5029200" cy="4889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494568" y="6472382"/>
            <a:ext cx="4940300" cy="452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 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기본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정보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      -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이름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아이디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비밀번호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2. 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관리자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코드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검증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절차</a:t>
            </a: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41100"/>
              </a:lnSpc>
            </a:pP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    -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코드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시,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코드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검증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수행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  <a:p>
            <a:pPr lvl="0" algn="l">
              <a:lnSpc>
                <a:spcPct val="141100"/>
              </a:lnSpc>
            </a:pP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41100"/>
              </a:lnSpc>
            </a:pP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41100"/>
              </a:lnSpc>
            </a:pP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     -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코드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미입력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
      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별도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검증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없이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작업자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계정으로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DB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</a:t>
            </a: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28100" y="8445500"/>
            <a:ext cx="4762500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가입</a:t>
            </a:r>
            <a:r>
              <a:rPr lang="en-US" sz="2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코드</a:t>
            </a:r>
            <a:r>
              <a:rPr lang="en-US" sz="2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검증</a:t>
            </a:r>
            <a:r>
              <a:rPr lang="en-US" sz="2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수행</a:t>
            </a:r>
            <a:endParaRPr lang="en-US" sz="2333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코드</a:t>
            </a:r>
            <a:r>
              <a:rPr lang="en-US" sz="2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일치</a:t>
            </a:r>
            <a:r>
              <a:rPr lang="en-US" sz="2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→ </a:t>
            </a: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관리자</a:t>
            </a:r>
            <a:r>
              <a:rPr lang="en-US" sz="2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계정으로</a:t>
            </a:r>
            <a:r>
              <a:rPr lang="en-US" sz="2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DB </a:t>
            </a: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</a:t>
            </a:r>
            <a:endParaRPr lang="en-US" sz="2333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코드</a:t>
            </a:r>
            <a:r>
              <a:rPr lang="en-US" sz="2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불일치</a:t>
            </a:r>
            <a:r>
              <a:rPr lang="en-US" sz="2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→ </a:t>
            </a: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회원가입</a:t>
            </a:r>
            <a:r>
              <a:rPr lang="en-US" sz="2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</a:t>
            </a:r>
            <a:r>
              <a:rPr lang="en-US" sz="23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처리</a:t>
            </a:r>
            <a:endParaRPr lang="en-US" sz="2333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7">
            <a:alphaModFix amt="60000"/>
          </a:blip>
          <a:stretch>
            <a:fillRect/>
          </a:stretch>
        </p:blipFill>
        <p:spPr>
          <a:xfrm>
            <a:off x="19735800" y="6680200"/>
            <a:ext cx="3073400" cy="1422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8">
            <a:alphaModFix amt="60000"/>
          </a:blip>
          <a:stretch>
            <a:fillRect/>
          </a:stretch>
        </p:blipFill>
        <p:spPr>
          <a:xfrm>
            <a:off x="8356600" y="5486400"/>
            <a:ext cx="2628900" cy="990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9964400" y="6858000"/>
            <a:ext cx="27940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3.  </a:t>
            </a:r>
            <a:r>
              <a:rPr lang="en-US" sz="2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회원가입</a:t>
            </a:r>
            <a:r>
              <a:rPr lang="en-US" sz="2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완료</a:t>
            </a:r>
            <a:r>
              <a:rPr lang="en-US" sz="2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후</a:t>
            </a:r>
          </a:p>
          <a:p>
            <a:pPr lvl="0" algn="l">
              <a:lnSpc>
                <a:spcPct val="141100"/>
              </a:lnSpc>
            </a:pPr>
            <a:r>
              <a:rPr lang="en-US" sz="2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2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로그인</a:t>
            </a:r>
            <a:r>
              <a:rPr lang="en-US" sz="2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페이지로</a:t>
            </a:r>
            <a:r>
              <a:rPr lang="en-US" sz="2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이동</a:t>
            </a:r>
            <a:r>
              <a:rPr lang="en-US" sz="2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05800" y="5651500"/>
            <a:ext cx="2743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40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회원가입</a:t>
            </a:r>
            <a:r>
              <a:rPr lang="en-US" sz="2400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처리</a:t>
            </a:r>
            <a:r>
              <a:rPr lang="en-US" sz="2400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로직</a:t>
            </a:r>
            <a:endParaRPr lang="en-US" sz="2400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1082" y="118745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2247900" cy="571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46300" y="1765300"/>
            <a:ext cx="1854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설계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59000" y="24892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웹 페이지 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600" y="3632200"/>
            <a:ext cx="20878800" cy="50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alphaModFix amt="60000"/>
          </a:blip>
          <a:stretch>
            <a:fillRect/>
          </a:stretch>
        </p:blipFill>
        <p:spPr>
          <a:xfrm>
            <a:off x="17868900" y="6096000"/>
            <a:ext cx="4838700" cy="396023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220AFEB-1BD5-40CF-B35D-71ACF44564A3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5918" y="5295900"/>
            <a:ext cx="7317582" cy="5864041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7861973" y="6491288"/>
            <a:ext cx="4724400" cy="25304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288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spc="-2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  <a:cs typeface="Pretendard Regular"/>
              </a:rPr>
              <a:t> 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사용자가 로그인 정보를 입력</a:t>
            </a:r>
          </a:p>
          <a:p>
            <a:pPr marL="342900" indent="-288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서버에서 입력된 정보와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DB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사용자 정보를 비교하여 검증</a:t>
            </a:r>
          </a:p>
          <a:p>
            <a:pPr marL="342900" indent="-288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검증 결과에 따라 다음과 같이 처리 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19564" y="4738255"/>
            <a:ext cx="3340100" cy="762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14509" y="48514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ko-KR" alt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 입력</a:t>
            </a:r>
            <a:endParaRPr lang="en-US" sz="2533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D181591-34F6-4BBF-B669-C0674E95678A}"/>
              </a:ext>
            </a:extLst>
          </p:cNvPr>
          <p:cNvSpPr txBox="1"/>
          <p:nvPr/>
        </p:nvSpPr>
        <p:spPr>
          <a:xfrm>
            <a:off x="18473883" y="8716963"/>
            <a:ext cx="4286826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로그인 성공 → 메인 페이지 이동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로그인 실패 → 오류 메시지 반환</a:t>
            </a:r>
          </a:p>
          <a:p>
            <a:pPr lvl="0" algn="l">
              <a:lnSpc>
                <a:spcPct val="150000"/>
              </a:lnSpc>
            </a:pPr>
            <a:endParaRPr lang="en-US" sz="2333" b="0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Regular" panose="020B0600000101010101" charset="-127"/>
              <a:cs typeface="Pretendard Regular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03122" y="5368427"/>
            <a:ext cx="5537784" cy="5887629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71200" y="4699000"/>
            <a:ext cx="3492500" cy="800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172700" y="4851400"/>
            <a:ext cx="48387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ko-KR" altLang="en-US" sz="2654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 오류</a:t>
            </a:r>
            <a:endParaRPr lang="en-US" sz="2654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6658544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2247900" cy="571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46300" y="1765300"/>
            <a:ext cx="1854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설계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66700" y="4572000"/>
            <a:ext cx="7035800" cy="4483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2400" y="4762500"/>
            <a:ext cx="6692900" cy="3162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74600" y="3949700"/>
            <a:ext cx="33401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2014200" y="40894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작업 할당 등록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13000" y="4114800"/>
            <a:ext cx="3340100" cy="762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752600" y="42545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메인 페이지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90700" y="3581400"/>
            <a:ext cx="20878800" cy="50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2120900" y="24130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웹 페이지 - 관리자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55900" y="8686800"/>
            <a:ext cx="6629400" cy="3568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51100" y="8102600"/>
            <a:ext cx="3340100" cy="762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2413000" y="8242300"/>
            <a:ext cx="34290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작업 등록 확인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7">
            <a:alphaModFix amt="60000"/>
          </a:blip>
          <a:stretch>
            <a:fillRect/>
          </a:stretch>
        </p:blipFill>
        <p:spPr>
          <a:xfrm>
            <a:off x="12937836" y="9183833"/>
            <a:ext cx="7378700" cy="3128242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3144500" y="9250220"/>
            <a:ext cx="6959600" cy="306185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indent="-4572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관리자만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등록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가능</a:t>
            </a: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등록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다음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정보를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</a:t>
            </a:r>
            <a:endParaRPr lang="en-US" sz="2375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0" lvl="1" algn="l">
              <a:lnSpc>
                <a:spcPct val="141100"/>
              </a:lnSpc>
              <a:buClr>
                <a:srgbClr val="000000"/>
              </a:buClr>
            </a:pP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	-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제목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일자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→ DB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</a:t>
            </a: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현장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이미지</a:t>
            </a:r>
            <a:endParaRPr lang="en-US" sz="2375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0" lvl="1" algn="l">
              <a:lnSpc>
                <a:spcPct val="141100"/>
              </a:lnSpc>
              <a:buClr>
                <a:srgbClr val="000000"/>
              </a:buClr>
            </a:pP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	- S3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버킷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Azure Blob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Storage의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`tasks/`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경로에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</a:t>
            </a:r>
            <a:r>
              <a:rPr lang="en-US" sz="2375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	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DB에는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이미지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(URL)만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저장하여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DB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부하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최소화</a:t>
            </a: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2247900" cy="571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46300" y="1765300"/>
            <a:ext cx="1854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설계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20900" y="24257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웹 페이지 - 작업자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4100" y="4787900"/>
            <a:ext cx="3340100" cy="762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63700" y="49276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작업자 페이지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39400" y="4876800"/>
            <a:ext cx="3340100" cy="762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766300" y="50165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할당 작업 조회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2400" y="5486400"/>
            <a:ext cx="6464300" cy="5181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5562600"/>
            <a:ext cx="6604000" cy="5156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90700" y="3581400"/>
            <a:ext cx="20878800" cy="50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5">
            <a:alphaModFix amt="60000"/>
          </a:blip>
          <a:stretch>
            <a:fillRect/>
          </a:stretch>
        </p:blipFill>
        <p:spPr>
          <a:xfrm>
            <a:off x="17538700" y="6654799"/>
            <a:ext cx="5435600" cy="3429001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7678400" y="6908800"/>
            <a:ext cx="5295900" cy="2476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작업자는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할당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메뉴에서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관리자에게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할당된</a:t>
            </a: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0" lvl="1" algn="l">
              <a:lnSpc>
                <a:spcPct val="141100"/>
              </a:lnSpc>
              <a:buClr>
                <a:srgbClr val="000000"/>
              </a:buClr>
            </a:pP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     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작업을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조회</a:t>
            </a: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확인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버튼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</a:t>
            </a:r>
            <a:endParaRPr lang="en-US" sz="2375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0" lvl="1" algn="l">
              <a:lnSpc>
                <a:spcPct val="141100"/>
              </a:lnSpc>
              <a:buClr>
                <a:srgbClr val="000000"/>
              </a:buClr>
            </a:pP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	 - 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해당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상태가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진행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중으로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변경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    	- 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작업은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할당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메뉴에서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진행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중 </a:t>
            </a:r>
          </a:p>
          <a:p>
            <a:pPr marL="0" lvl="1" algn="l">
              <a:lnSpc>
                <a:spcPct val="141100"/>
              </a:lnSpc>
              <a:buClr>
                <a:srgbClr val="000000"/>
              </a:buClr>
            </a:pPr>
            <a:r>
              <a:rPr lang="en-US" sz="2375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	    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메뉴로</a:t>
            </a:r>
            <a:r>
              <a:rPr lang="en-US" sz="2375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이동</a:t>
            </a: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2247900" cy="571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46300" y="1765300"/>
            <a:ext cx="1854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설계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0700" y="3581400"/>
            <a:ext cx="20878800" cy="50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24130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웹 페이지 - 작업자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62200" y="4927600"/>
            <a:ext cx="7696200" cy="427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7200" y="4254500"/>
            <a:ext cx="3340100" cy="762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20400" y="4762500"/>
            <a:ext cx="7150100" cy="6629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54100" y="43942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작업자</a:t>
            </a: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33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메뉴</a:t>
            </a:r>
            <a:r>
              <a:rPr lang="en-US" sz="2533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33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화면</a:t>
            </a:r>
            <a:endParaRPr lang="en-US" sz="2533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0000" y="4229100"/>
            <a:ext cx="3340100" cy="762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9499600" y="43942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작업 결과 보고서 작성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>
            <a:alphaModFix amt="60000"/>
          </a:blip>
          <a:stretch>
            <a:fillRect/>
          </a:stretch>
        </p:blipFill>
        <p:spPr>
          <a:xfrm>
            <a:off x="18097500" y="5562600"/>
            <a:ext cx="4991100" cy="5511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7810018" y="6457950"/>
            <a:ext cx="7073900" cy="452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작업자는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진행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중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상태의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작업에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대해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결과를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제출</a:t>
            </a: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결과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다음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정보를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</a:t>
            </a:r>
            <a:endParaRPr lang="en-US" sz="2375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0" lvl="1" algn="l">
              <a:lnSpc>
                <a:spcPct val="141100"/>
              </a:lnSpc>
              <a:buClr>
                <a:srgbClr val="000000"/>
              </a:buClr>
            </a:pP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	-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결과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내용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→ DB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    	-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결과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사진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    	 - S3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버킷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Azure Blob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Storage의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  <a:p>
            <a:pPr marL="0" lvl="1" algn="l">
              <a:lnSpc>
                <a:spcPct val="141100"/>
              </a:lnSpc>
              <a:buClr>
                <a:srgbClr val="000000"/>
              </a:buClr>
            </a:pPr>
            <a:r>
              <a:rPr lang="en-US" sz="2375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                  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`results/`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경로에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      -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DB에는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이미지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(URL)만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하여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  <a:p>
            <a:pPr marL="0" lvl="1" algn="l">
              <a:lnSpc>
                <a:spcPct val="141100"/>
              </a:lnSpc>
              <a:buClr>
                <a:srgbClr val="000000"/>
              </a:buClr>
            </a:pP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         DB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부하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최소화</a:t>
            </a: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2247900" cy="57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0700" y="3581400"/>
            <a:ext cx="208788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146300" y="1765300"/>
            <a:ext cx="1854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설계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4130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웹 페이지 - 관리자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79500" y="4419600"/>
            <a:ext cx="8115300" cy="7581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84500" y="3860800"/>
            <a:ext cx="7772400" cy="4114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5400000">
            <a:off x="11722100" y="5295900"/>
            <a:ext cx="647700" cy="1955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5400000">
            <a:off x="11861800" y="8915400"/>
            <a:ext cx="647700" cy="1955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293600" y="3835400"/>
            <a:ext cx="3340100" cy="762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620500" y="4000500"/>
            <a:ext cx="4610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399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작업 결과 보고서 검토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84500" y="7975600"/>
            <a:ext cx="7759700" cy="4140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>
            <a:alphaModFix amt="69000"/>
          </a:blip>
          <a:stretch>
            <a:fillRect/>
          </a:stretch>
        </p:blipFill>
        <p:spPr>
          <a:xfrm>
            <a:off x="10363200" y="10629900"/>
            <a:ext cx="4025900" cy="10922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287000" y="10325100"/>
            <a:ext cx="4064000" cy="127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179" b="0" i="0" u="none" strike="noStrike" spc="-3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
</a:t>
            </a:r>
            <a:r>
              <a:rPr lang="en-US" sz="2179" b="0" i="0" u="none" strike="noStrike" spc="-3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179" b="0" i="0" u="none" strike="noStrike" spc="-3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179" b="0" i="0" u="none" strike="noStrike" spc="-3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상태</a:t>
            </a:r>
            <a:r>
              <a:rPr lang="en-US" sz="2179" b="0" i="0" u="none" strike="noStrike" spc="-3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:  </a:t>
            </a:r>
            <a:r>
              <a:rPr lang="en-US" sz="2179" b="0" i="0" u="none" strike="noStrike" spc="-3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승인</a:t>
            </a:r>
            <a:r>
              <a:rPr lang="en-US" sz="2179" b="0" i="0" u="none" strike="noStrike" spc="-3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179" b="0" i="0" u="none" strike="noStrike" spc="-3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대기</a:t>
            </a:r>
            <a:r>
              <a:rPr lang="en-US" sz="2179" b="0" i="0" u="none" strike="noStrike" spc="-3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→ </a:t>
            </a:r>
            <a:r>
              <a:rPr lang="en-US" sz="2179" b="0" i="0" u="none" strike="noStrike" spc="-3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진행</a:t>
            </a:r>
            <a:r>
              <a:rPr lang="en-US" sz="2179" b="0" i="0" u="none" strike="noStrike" spc="-3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중 
 </a:t>
            </a:r>
            <a:r>
              <a:rPr lang="en-US" sz="2179" b="0" i="0" u="none" strike="noStrike" spc="-3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작업자는</a:t>
            </a:r>
            <a:r>
              <a:rPr lang="en-US" sz="2179" b="0" i="0" u="none" strike="noStrike" spc="-3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179" b="0" i="0" u="none" strike="noStrike" spc="-3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수정</a:t>
            </a:r>
            <a:r>
              <a:rPr lang="en-US" sz="2179" b="0" i="0" u="none" strike="noStrike" spc="-3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후 </a:t>
            </a:r>
            <a:r>
              <a:rPr lang="en-US" sz="2179" b="0" i="0" u="none" strike="noStrike" spc="-3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재제출</a:t>
            </a:r>
            <a:r>
              <a:rPr lang="en-US" sz="2179" b="0" i="0" u="none" strike="noStrike" spc="-3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179" b="0" i="0" u="none" strike="noStrike" spc="-3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가능</a:t>
            </a:r>
            <a:endParaRPr lang="en-US" sz="2179" b="0" i="0" u="none" strike="noStrike" spc="-3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9">
            <a:alphaModFix amt="81000"/>
          </a:blip>
          <a:stretch>
            <a:fillRect/>
          </a:stretch>
        </p:blipFill>
        <p:spPr>
          <a:xfrm>
            <a:off x="16954500" y="10096500"/>
            <a:ext cx="4025900" cy="10922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1633200" y="10223500"/>
            <a:ext cx="14478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28" b="1" i="0" u="none" strike="noStrike" spc="-200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반려됨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992600" y="10134600"/>
            <a:ext cx="39243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1100"/>
              </a:lnSpc>
            </a:pPr>
            <a:r>
              <a:rPr lang="en-US" sz="2331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승인시</a:t>
            </a:r>
            <a:r>
              <a:rPr lang="en-US" sz="2197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
</a:t>
            </a:r>
            <a:r>
              <a:rPr lang="en-US" sz="2197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197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197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상태</a:t>
            </a:r>
            <a:r>
              <a:rPr lang="en-US" sz="2197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:  </a:t>
            </a:r>
            <a:r>
              <a:rPr lang="en-US" sz="2197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승인</a:t>
            </a:r>
            <a:r>
              <a:rPr lang="en-US" sz="2197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197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대기</a:t>
            </a:r>
            <a:r>
              <a:rPr lang="en-US" sz="2197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→ </a:t>
            </a:r>
            <a:r>
              <a:rPr lang="en-US" sz="2197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승인</a:t>
            </a:r>
            <a:r>
              <a:rPr lang="en-US" sz="2197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197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완료</a:t>
            </a:r>
            <a:r>
              <a:rPr lang="en-US" sz="2197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16800" y="7086600"/>
            <a:ext cx="3340100" cy="7620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7378700" y="7251700"/>
            <a:ext cx="34163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399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관리자 승인 대기 메뉴 ↑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16800" y="7708900"/>
            <a:ext cx="3340100" cy="7620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7378700" y="7899400"/>
            <a:ext cx="34163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399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작업자 진행 메뉴 ↓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18400" y="7772400"/>
            <a:ext cx="3149600" cy="38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2">
            <a:alphaModFix amt="60000"/>
          </a:blip>
          <a:stretch>
            <a:fillRect/>
          </a:stretch>
        </p:blipFill>
        <p:spPr>
          <a:xfrm>
            <a:off x="10718800" y="4876800"/>
            <a:ext cx="3073400" cy="1041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0604500" y="4953000"/>
            <a:ext cx="32131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관리자는</a:t>
            </a:r>
            <a:r>
              <a:rPr lang="en-US" sz="2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작업자가</a:t>
            </a:r>
            <a:r>
              <a:rPr lang="en-US" sz="2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제출한</a:t>
            </a:r>
            <a:endParaRPr lang="en-US" sz="22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26160"/>
              </a:lnSpc>
            </a:pPr>
            <a:r>
              <a:rPr lang="en-US" sz="2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2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결과를</a:t>
            </a:r>
            <a:r>
              <a:rPr lang="en-US" sz="2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검토</a:t>
            </a:r>
            <a:endParaRPr lang="en-US" sz="22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2247900" cy="571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46300" y="1765300"/>
            <a:ext cx="1854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설계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0700" y="3581400"/>
            <a:ext cx="20878800" cy="50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24130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웹 페이지 - 관리자/ 작업자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8500" y="5372100"/>
            <a:ext cx="8280400" cy="4521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65100" y="4610100"/>
            <a:ext cx="8128000" cy="7518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611100" y="3987800"/>
            <a:ext cx="3543300" cy="812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1912600" y="4165600"/>
            <a:ext cx="49149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695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승인 완료 메뉴 조회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59100" y="4610100"/>
            <a:ext cx="3340100" cy="762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2298700" y="47498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작업 승인 완료 페이지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800" y="1651000"/>
            <a:ext cx="2247900" cy="571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46300" y="1765300"/>
            <a:ext cx="1854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설계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0700" y="3581400"/>
            <a:ext cx="20878800" cy="50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20900" y="24130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0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웹 페이지 - 관리자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3500" y="4864100"/>
            <a:ext cx="8665728" cy="4686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3400" y="4229100"/>
            <a:ext cx="3340100" cy="762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30300" y="43688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관리자 작업 삭제 페이지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0" r="990" b="4021"/>
          <a:stretch/>
        </p:blipFill>
        <p:spPr>
          <a:xfrm>
            <a:off x="12458700" y="4851400"/>
            <a:ext cx="9486900" cy="4749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15700" y="4203700"/>
            <a:ext cx="3340100" cy="762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>
            <a:alphaModFix amt="60000"/>
          </a:blip>
          <a:stretch>
            <a:fillRect/>
          </a:stretch>
        </p:blipFill>
        <p:spPr>
          <a:xfrm>
            <a:off x="3441700" y="9728200"/>
            <a:ext cx="6464300" cy="2311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0655300" y="4368800"/>
            <a:ext cx="4610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삭제 확인 페이지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08400" y="9855200"/>
            <a:ext cx="6451600" cy="195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관리자는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등록된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삭제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가능</a:t>
            </a: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삭제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</a:t>
            </a:r>
            <a:endParaRPr lang="en-US" sz="2375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0" lvl="1" algn="l">
              <a:lnSpc>
                <a:spcPct val="141100"/>
              </a:lnSpc>
              <a:buClr>
                <a:srgbClr val="000000"/>
              </a:buClr>
            </a:pP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	-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해당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데이터는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데이터베이스에서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제거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    	-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함께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등록된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이미지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파일도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스토리지에서</a:t>
            </a:r>
            <a:r>
              <a:rPr lang="en-US" sz="2375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75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삭제</a:t>
            </a:r>
            <a:endParaRPr lang="en-US" sz="2375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638300"/>
            <a:ext cx="215900" cy="184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349500" y="152400"/>
            <a:ext cx="2159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721100" y="152400"/>
            <a:ext cx="2159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787400"/>
            <a:ext cx="22910800" cy="1224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0" y="1181100"/>
            <a:ext cx="22059900" cy="1134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91400" y="914400"/>
            <a:ext cx="3098800" cy="207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0000" y="10007600"/>
            <a:ext cx="190500" cy="76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5800" y="1651000"/>
            <a:ext cx="2832100" cy="571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2600" y="4660900"/>
            <a:ext cx="20878800" cy="50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62900" y="6807200"/>
            <a:ext cx="84582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62900" y="10439400"/>
            <a:ext cx="84582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17000" y="5308600"/>
            <a:ext cx="4356100" cy="383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7000" y="5308600"/>
            <a:ext cx="4356100" cy="383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98200" y="8128000"/>
            <a:ext cx="4356100" cy="383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14100" y="8331200"/>
            <a:ext cx="3949700" cy="3479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979900" y="8940800"/>
            <a:ext cx="5143500" cy="30099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7018000" y="9969500"/>
            <a:ext cx="5080000" cy="179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BI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솔루션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연동으로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고급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분석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,</a:t>
            </a:r>
          </a:p>
          <a:p>
            <a:pPr lvl="0" algn="ctr">
              <a:lnSpc>
                <a:spcPct val="132800"/>
              </a:lnSpc>
            </a:pP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GPS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현장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위치·규모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구분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기능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추가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
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안전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관리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위험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요소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분류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기능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검토</a:t>
            </a:r>
            <a:endParaRPr lang="en-US" sz="2266" b="0" i="0" u="none" strike="noStrike" spc="-200" dirty="0">
              <a:solidFill>
                <a:srgbClr val="4D4D4D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32800"/>
              </a:lnSpc>
            </a:pP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앱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서비스로</a:t>
            </a:r>
            <a:r>
              <a:rPr lang="en-US" sz="2266" b="0" i="0" u="none" strike="noStrike" spc="-200" dirty="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66" b="0" i="0" u="none" strike="noStrike" spc="-200" dirty="0" err="1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확장</a:t>
            </a:r>
            <a:endParaRPr lang="en-US" sz="2266" b="0" i="0" u="none" strike="noStrike" spc="-200" dirty="0">
              <a:solidFill>
                <a:srgbClr val="4D4D4D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119600" y="9220200"/>
            <a:ext cx="483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서비스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기능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확장</a:t>
            </a:r>
            <a:endParaRPr lang="en-US" sz="2933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979900" y="5308600"/>
            <a:ext cx="5143500" cy="30099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7018000" y="6350000"/>
            <a:ext cx="5080000" cy="179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266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GitHub Actions와 Lambda를 활용한 </a:t>
            </a:r>
          </a:p>
          <a:p>
            <a:pPr lvl="0" algn="ctr">
              <a:lnSpc>
                <a:spcPct val="132800"/>
              </a:lnSpc>
            </a:pPr>
            <a:r>
              <a:rPr lang="en-US" sz="2266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CI/CD 및 운영 자동화 환경 확장
인프라와 애플리케이션 변경의 일관된 배포 및 관리 체계 구축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132300" y="5638800"/>
            <a:ext cx="483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CI/CD 및 </a:t>
            </a: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운영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자동화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고도화</a:t>
            </a:r>
            <a:endParaRPr lang="en-US" sz="2933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60600" y="8940800"/>
            <a:ext cx="5143500" cy="30099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298700" y="10071100"/>
            <a:ext cx="5080000" cy="1422400"/>
          </a:xfrm>
          <a:prstGeom prst="rect">
            <a:avLst/>
          </a:prstGeom>
        </p:spPr>
        <p:txBody>
          <a:bodyPr lIns="0" tIns="73407" rIns="0" bIns="0" rtlCol="0" anchor="t"/>
          <a:lstStyle/>
          <a:p>
            <a:pPr lvl="0" algn="ctr">
              <a:lnSpc>
                <a:spcPct val="73870"/>
              </a:lnSpc>
            </a:pPr>
            <a:r>
              <a:rPr lang="en-US" sz="2266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접근 제어 세분화(IAM Role, 권한 분리)
보안 이벤트 모니터링 및 알림 고도화
로그 기반 운영 지표 수집 및 분석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413000" y="9309100"/>
            <a:ext cx="483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보안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운영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강화</a:t>
            </a:r>
            <a:endParaRPr lang="en-US" sz="2933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60600" y="5308600"/>
            <a:ext cx="5143500" cy="30099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2298700" y="6375400"/>
            <a:ext cx="5080000" cy="1320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266" b="0" i="0" u="none" strike="noStrike" spc="-200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AWS–Azure 간 데이터 동기화 자동화
DR 전환 시나리오 문서화 및 주기적 테스트
리전·클라우드 장애 상황별 대응 전략 수립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00300" y="5638800"/>
            <a:ext cx="483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멀티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클라우드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DR </a:t>
            </a:r>
            <a:r>
              <a:rPr lang="en-US" sz="2933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강화</a:t>
            </a:r>
            <a:endParaRPr lang="en-US" sz="2933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032000" y="2552700"/>
            <a:ext cx="20726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2008"/>
              </a:lnSpc>
            </a:pPr>
            <a:r>
              <a:rPr lang="en-US" sz="5600" b="1" i="0" u="none" strike="noStrike" spc="-3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향후 발전 계획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82800" y="1765300"/>
            <a:ext cx="2565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향후 개선 사항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19400" y="6184900"/>
            <a:ext cx="3911600" cy="101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19400" y="9842500"/>
            <a:ext cx="3911600" cy="1016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576800" y="6184900"/>
            <a:ext cx="3911600" cy="101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576800" y="9779000"/>
            <a:ext cx="3911600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62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2900" y="-38100"/>
            <a:ext cx="13881100" cy="13754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3784600"/>
            <a:ext cx="11595100" cy="8737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435100" y="1257300"/>
            <a:ext cx="79502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마무리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35100" y="2197100"/>
            <a:ext cx="32004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69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회고 및 느낀 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1000" y="4114800"/>
            <a:ext cx="11087100" cy="720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68488"/>
              </a:lnSpc>
            </a:pP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이번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프로젝트를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통해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실제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서비스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환경을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고려한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인프라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설계와</a:t>
            </a:r>
            <a:endParaRPr lang="en-US" sz="2882" b="0" i="0" u="none" strike="noStrike" spc="100" dirty="0">
              <a:solidFill>
                <a:srgbClr val="556268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68488"/>
              </a:lnSpc>
            </a:pP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안정성의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중요성을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체감했으며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,
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AWS와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Azure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재해복구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인프라를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구성하는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과정에서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네트워크·보안·장애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대응이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유기적으로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연결된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구조임을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이해하게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되었습니다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.
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인프라와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애플리케이션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흐름을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직접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구현했으므로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기술을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사용하는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수준을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넘어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구조를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이해하고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설계하는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관점으로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성장할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있었습니다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.
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문제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발생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팀원들과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원인을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공유하고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해결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방안을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함께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고민했기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때문에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실무에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가까운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협업과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문제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해결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경험을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쌓을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있었습니다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.
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결과적으로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, 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기술적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성장과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함께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협업과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커뮤니케이션의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중요성을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인식하게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한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의미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있는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82" b="0" i="0" u="none" strike="noStrike" spc="100" dirty="0" err="1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경험이었습니다</a:t>
            </a:r>
            <a:r>
              <a:rPr lang="en-US" sz="2882" b="0" i="0" u="none" strike="noStrike" spc="100" dirty="0">
                <a:solidFill>
                  <a:srgbClr val="556268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5093</TotalTime>
  <Words>2228</Words>
  <Application>Microsoft Office PowerPoint</Application>
  <PresentationFormat>사용자 지정</PresentationFormat>
  <Paragraphs>529</Paragraphs>
  <Slides>55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2" baseType="lpstr">
      <vt:lpstr>Calibri</vt:lpstr>
      <vt:lpstr>Pretendard Regular</vt:lpstr>
      <vt:lpstr>Pretendard SemiBold</vt:lpstr>
      <vt:lpstr>맑은 고딕</vt:lpstr>
      <vt:lpstr>Pretendard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soldesk</dc:creator>
  <cp:lastModifiedBy>진호 김</cp:lastModifiedBy>
  <cp:revision>58</cp:revision>
  <dcterms:created xsi:type="dcterms:W3CDTF">2006-08-16T00:00:00Z</dcterms:created>
  <dcterms:modified xsi:type="dcterms:W3CDTF">2026-05-29T16:57:47Z</dcterms:modified>
</cp:coreProperties>
</file>