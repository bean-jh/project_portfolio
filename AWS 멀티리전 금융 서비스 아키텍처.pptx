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Source Han Sans KR Bold" charset="1" panose="020B0800000000000000"/>
      <p:regular r:id="rId22"/>
    </p:embeddedFont>
    <p:embeddedFont>
      <p:font typeface="Barlow Condensed Bold" charset="1" panose="00000806000000000000"/>
      <p:regular r:id="rId23"/>
    </p:embeddedFont>
    <p:embeddedFont>
      <p:font typeface="Source Han Sans KR Medium" charset="1" panose="020B0600000000000000"/>
      <p:regular r:id="rId24"/>
    </p:embeddedFont>
    <p:embeddedFont>
      <p:font typeface="Barlow Condensed" charset="1" panose="00000506000000000000"/>
      <p:regular r:id="rId25"/>
    </p:embeddedFont>
    <p:embeddedFont>
      <p:font typeface="Source Han Sans KR" charset="1" panose="020B0400000000000000"/>
      <p:regular r:id="rId26"/>
    </p:embeddedFont>
    <p:embeddedFont>
      <p:font typeface="Normung Bold" charset="1" panose="02000503000000000000"/>
      <p:regular r:id="rId27"/>
    </p:embeddedFont>
    <p:embeddedFont>
      <p:font typeface="Barlow Condensed Medium" charset="1" panose="00000606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733119" y="6841007"/>
            <a:ext cx="580321" cy="1015879"/>
          </a:xfrm>
          <a:custGeom>
            <a:avLst/>
            <a:gdLst/>
            <a:ahLst/>
            <a:cxnLst/>
            <a:rect r="r" b="b" t="t" l="l"/>
            <a:pathLst>
              <a:path h="1015879" w="580321">
                <a:moveTo>
                  <a:pt x="0" y="0"/>
                </a:moveTo>
                <a:lnTo>
                  <a:pt x="580321" y="0"/>
                </a:lnTo>
                <a:lnTo>
                  <a:pt x="580321" y="1015879"/>
                </a:lnTo>
                <a:lnTo>
                  <a:pt x="0" y="1015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71227" y="3357367"/>
            <a:ext cx="948494" cy="740288"/>
          </a:xfrm>
          <a:custGeom>
            <a:avLst/>
            <a:gdLst/>
            <a:ahLst/>
            <a:cxnLst/>
            <a:rect r="r" b="b" t="t" l="l"/>
            <a:pathLst>
              <a:path h="740288" w="948494">
                <a:moveTo>
                  <a:pt x="0" y="0"/>
                </a:moveTo>
                <a:lnTo>
                  <a:pt x="948494" y="0"/>
                </a:lnTo>
                <a:lnTo>
                  <a:pt x="948494" y="740288"/>
                </a:lnTo>
                <a:lnTo>
                  <a:pt x="0" y="7402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510229" y="5225570"/>
            <a:ext cx="1163736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</a:pPr>
            <a:r>
              <a:rPr lang="en-US" b="true" sz="3999" spc="-79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AWS 기반 멀티리전 금융 서비스 아키텍처 구축 프로젝트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45559" y="4195157"/>
            <a:ext cx="12596882" cy="110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80"/>
              </a:lnSpc>
              <a:spcBef>
                <a:spcPct val="0"/>
              </a:spcBef>
            </a:pPr>
            <a:r>
              <a:rPr lang="en-US" b="true" sz="8536" strike="noStrike" u="non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ENTERPRISE FINANCE PLATFORM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40371" y="7183769"/>
            <a:ext cx="7607257" cy="1298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b="true" sz="2498" spc="-74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김진호</a:t>
            </a:r>
          </a:p>
          <a:p>
            <a:pPr algn="ctr">
              <a:lnSpc>
                <a:spcPts val="3498"/>
              </a:lnSpc>
            </a:pPr>
          </a:p>
          <a:p>
            <a:pPr algn="ctr">
              <a:lnSpc>
                <a:spcPts val="3498"/>
              </a:lnSpc>
            </a:pPr>
            <a:r>
              <a:rPr lang="en-US" b="true" sz="2498" spc="-74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Cloud Engineer Portfolio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971717" y="3844757"/>
            <a:ext cx="3294823" cy="3822876"/>
            <a:chOff x="0" y="0"/>
            <a:chExt cx="867772" cy="10068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7772" cy="1006848"/>
            </a:xfrm>
            <a:custGeom>
              <a:avLst/>
              <a:gdLst/>
              <a:ahLst/>
              <a:cxnLst/>
              <a:rect r="r" b="b" t="t" l="l"/>
              <a:pathLst>
                <a:path h="1006848" w="867772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586194" y="3844757"/>
            <a:ext cx="3294823" cy="3822876"/>
            <a:chOff x="0" y="0"/>
            <a:chExt cx="867772" cy="10068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7772" cy="1006848"/>
            </a:xfrm>
            <a:custGeom>
              <a:avLst/>
              <a:gdLst/>
              <a:ahLst/>
              <a:cxnLst/>
              <a:rect r="r" b="b" t="t" l="l"/>
              <a:pathLst>
                <a:path h="1006848" w="867772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04867" y="3844757"/>
            <a:ext cx="3294823" cy="3822876"/>
            <a:chOff x="0" y="0"/>
            <a:chExt cx="867772" cy="10068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7772" cy="1006848"/>
            </a:xfrm>
            <a:custGeom>
              <a:avLst/>
              <a:gdLst/>
              <a:ahLst/>
              <a:cxnLst/>
              <a:rect r="r" b="b" t="t" l="l"/>
              <a:pathLst>
                <a:path h="1006848" w="867772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23540" y="3844757"/>
            <a:ext cx="3294823" cy="3822876"/>
            <a:chOff x="0" y="0"/>
            <a:chExt cx="867772" cy="10068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7772" cy="1006848"/>
            </a:xfrm>
            <a:custGeom>
              <a:avLst/>
              <a:gdLst/>
              <a:ahLst/>
              <a:cxnLst/>
              <a:rect r="r" b="b" t="t" l="l"/>
              <a:pathLst>
                <a:path h="1006848" w="867772">
                  <a:moveTo>
                    <a:pt x="30546" y="0"/>
                  </a:moveTo>
                  <a:lnTo>
                    <a:pt x="837226" y="0"/>
                  </a:lnTo>
                  <a:cubicBezTo>
                    <a:pt x="845327" y="0"/>
                    <a:pt x="853097" y="3218"/>
                    <a:pt x="858825" y="8947"/>
                  </a:cubicBezTo>
                  <a:cubicBezTo>
                    <a:pt x="864554" y="14675"/>
                    <a:pt x="867772" y="22445"/>
                    <a:pt x="867772" y="30546"/>
                  </a:cubicBezTo>
                  <a:lnTo>
                    <a:pt x="867772" y="976302"/>
                  </a:lnTo>
                  <a:cubicBezTo>
                    <a:pt x="867772" y="993172"/>
                    <a:pt x="854096" y="1006848"/>
                    <a:pt x="837226" y="1006848"/>
                  </a:cubicBezTo>
                  <a:lnTo>
                    <a:pt x="30546" y="1006848"/>
                  </a:lnTo>
                  <a:cubicBezTo>
                    <a:pt x="13676" y="1006848"/>
                    <a:pt x="0" y="993172"/>
                    <a:pt x="0" y="976302"/>
                  </a:cubicBezTo>
                  <a:lnTo>
                    <a:pt x="0" y="30546"/>
                  </a:lnTo>
                  <a:cubicBezTo>
                    <a:pt x="0" y="13676"/>
                    <a:pt x="13676" y="0"/>
                    <a:pt x="3054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67772" cy="1044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2190913" y="5951015"/>
            <a:ext cx="2856430" cy="0"/>
          </a:xfrm>
          <a:prstGeom prst="line">
            <a:avLst/>
          </a:prstGeom>
          <a:ln cap="flat" w="19050">
            <a:solidFill>
              <a:srgbClr val="DDC1A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5805391" y="5951015"/>
            <a:ext cx="2856430" cy="0"/>
          </a:xfrm>
          <a:prstGeom prst="line">
            <a:avLst/>
          </a:prstGeom>
          <a:ln cap="flat" w="19050">
            <a:solidFill>
              <a:srgbClr val="DDC1A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9424063" y="5951015"/>
            <a:ext cx="2856430" cy="0"/>
          </a:xfrm>
          <a:prstGeom prst="line">
            <a:avLst/>
          </a:prstGeom>
          <a:ln cap="flat" w="19050">
            <a:solidFill>
              <a:srgbClr val="DDC1A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3042736" y="5951015"/>
            <a:ext cx="2856430" cy="0"/>
          </a:xfrm>
          <a:prstGeom prst="line">
            <a:avLst/>
          </a:prstGeom>
          <a:ln cap="flat" w="19050">
            <a:solidFill>
              <a:srgbClr val="DDC1A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3208250" y="4225302"/>
            <a:ext cx="900402" cy="977617"/>
          </a:xfrm>
          <a:custGeom>
            <a:avLst/>
            <a:gdLst/>
            <a:ahLst/>
            <a:cxnLst/>
            <a:rect r="r" b="b" t="t" l="l"/>
            <a:pathLst>
              <a:path h="977617" w="900402">
                <a:moveTo>
                  <a:pt x="0" y="0"/>
                </a:moveTo>
                <a:lnTo>
                  <a:pt x="900403" y="0"/>
                </a:lnTo>
                <a:lnTo>
                  <a:pt x="900403" y="977617"/>
                </a:lnTo>
                <a:lnTo>
                  <a:pt x="0" y="9776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875819" y="4257233"/>
            <a:ext cx="717937" cy="880904"/>
          </a:xfrm>
          <a:custGeom>
            <a:avLst/>
            <a:gdLst/>
            <a:ahLst/>
            <a:cxnLst/>
            <a:rect r="r" b="b" t="t" l="l"/>
            <a:pathLst>
              <a:path h="880904" w="717937">
                <a:moveTo>
                  <a:pt x="0" y="0"/>
                </a:moveTo>
                <a:lnTo>
                  <a:pt x="717937" y="0"/>
                </a:lnTo>
                <a:lnTo>
                  <a:pt x="717937" y="880904"/>
                </a:lnTo>
                <a:lnTo>
                  <a:pt x="0" y="8809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299855" y="4175065"/>
            <a:ext cx="1067468" cy="1067468"/>
          </a:xfrm>
          <a:custGeom>
            <a:avLst/>
            <a:gdLst/>
            <a:ahLst/>
            <a:cxnLst/>
            <a:rect r="r" b="b" t="t" l="l"/>
            <a:pathLst>
              <a:path h="1067468" w="1067468">
                <a:moveTo>
                  <a:pt x="0" y="0"/>
                </a:moveTo>
                <a:lnTo>
                  <a:pt x="1067468" y="0"/>
                </a:lnTo>
                <a:lnTo>
                  <a:pt x="1067468" y="1067468"/>
                </a:lnTo>
                <a:lnTo>
                  <a:pt x="0" y="1067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890980" y="4144524"/>
            <a:ext cx="1141330" cy="1127962"/>
          </a:xfrm>
          <a:custGeom>
            <a:avLst/>
            <a:gdLst/>
            <a:ahLst/>
            <a:cxnLst/>
            <a:rect r="r" b="b" t="t" l="l"/>
            <a:pathLst>
              <a:path h="1127962" w="1141330">
                <a:moveTo>
                  <a:pt x="0" y="0"/>
                </a:moveTo>
                <a:lnTo>
                  <a:pt x="1141330" y="0"/>
                </a:lnTo>
                <a:lnTo>
                  <a:pt x="1141330" y="1127962"/>
                </a:lnTo>
                <a:lnTo>
                  <a:pt x="0" y="11279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6172430" y="2864224"/>
            <a:ext cx="5745219" cy="39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 GOALS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72430" y="2201557"/>
            <a:ext cx="5745219" cy="69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5"/>
              </a:lnSpc>
            </a:pPr>
            <a:r>
              <a:rPr lang="en-US" b="true" sz="4097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프로젝트 목표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098441" y="5349707"/>
            <a:ext cx="3041374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b="true" sz="2198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단일 리전 장애 해결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712919" y="5349707"/>
            <a:ext cx="3041374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b="true" sz="2198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 보안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31592" y="5349707"/>
            <a:ext cx="3041374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b="true" sz="2198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글로벌 응답속도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950264" y="5349707"/>
            <a:ext cx="3041374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b="true" sz="2198" spc="-7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웹 공격 대응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098441" y="6141515"/>
            <a:ext cx="3041374" cy="109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b="true" sz="1598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멀티리전 아키텍처 구축으로</a:t>
            </a:r>
          </a:p>
          <a:p>
            <a:pPr algn="ctr" marL="0" indent="0" lvl="0">
              <a:lnSpc>
                <a:spcPts val="2238"/>
              </a:lnSpc>
            </a:pPr>
            <a:r>
              <a:rPr lang="en-US" b="true" sz="1598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장애 발생 시에도 서비스</a:t>
            </a:r>
          </a:p>
          <a:p>
            <a:pPr algn="ctr" marL="0" indent="0" lvl="0">
              <a:lnSpc>
                <a:spcPts val="2238"/>
              </a:lnSpc>
            </a:pPr>
            <a:r>
              <a:rPr lang="en-US" b="true" sz="1598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연속성을 보장하는</a:t>
            </a:r>
          </a:p>
          <a:p>
            <a:pPr algn="ctr" marL="0" indent="0" lvl="0">
              <a:lnSpc>
                <a:spcPts val="2238"/>
              </a:lnSpc>
            </a:pPr>
            <a:r>
              <a:rPr lang="en-US" b="true" sz="1598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고가용성 환경 구현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712919" y="6141515"/>
            <a:ext cx="3041374" cy="109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b="true" sz="1598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VPN 기반 내부 접근 제어와</a:t>
            </a:r>
          </a:p>
          <a:p>
            <a:pPr algn="ctr" marL="0" indent="0" lvl="0">
              <a:lnSpc>
                <a:spcPts val="2238"/>
              </a:lnSpc>
            </a:pPr>
            <a:r>
              <a:rPr lang="en-US" b="true" sz="1598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Private Subnet 구성으로</a:t>
            </a:r>
          </a:p>
          <a:p>
            <a:pPr algn="ctr" marL="0" indent="0" lvl="0">
              <a:lnSpc>
                <a:spcPts val="2238"/>
              </a:lnSpc>
            </a:pPr>
            <a:r>
              <a:rPr lang="en-US" b="true" sz="1598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RDS 및 서버의 외부 노출을</a:t>
            </a:r>
          </a:p>
          <a:p>
            <a:pPr algn="ctr" marL="0" indent="0" lvl="0">
              <a:lnSpc>
                <a:spcPts val="2238"/>
              </a:lnSpc>
            </a:pPr>
            <a:r>
              <a:rPr lang="en-US" b="true" sz="1598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원천 차단합니다.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331592" y="6141515"/>
            <a:ext cx="3041374" cy="109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b="true" sz="1598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CloudFront CDN 기반</a:t>
            </a:r>
          </a:p>
          <a:p>
            <a:pPr algn="ctr" marL="0" indent="0" lvl="0">
              <a:lnSpc>
                <a:spcPts val="2238"/>
              </a:lnSpc>
            </a:pPr>
            <a:r>
              <a:rPr lang="en-US" b="true" sz="1598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글로벌 서비스 최적화로</a:t>
            </a:r>
          </a:p>
          <a:p>
            <a:pPr algn="ctr" marL="0" indent="0" lvl="0">
              <a:lnSpc>
                <a:spcPts val="2238"/>
              </a:lnSpc>
            </a:pPr>
            <a:r>
              <a:rPr lang="en-US" b="true" sz="1598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전 세계 사용자 응답속도를</a:t>
            </a:r>
          </a:p>
          <a:p>
            <a:pPr algn="ctr" marL="0" indent="0" lvl="0">
              <a:lnSpc>
                <a:spcPts val="2238"/>
              </a:lnSpc>
            </a:pPr>
            <a:r>
              <a:rPr lang="en-US" b="true" sz="1598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대폭 향상시킵니다.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950264" y="6141515"/>
            <a:ext cx="3041374" cy="109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b="true" sz="1598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WAF 기반 SQL Injection,</a:t>
            </a:r>
          </a:p>
          <a:p>
            <a:pPr algn="ctr" marL="0" indent="0" lvl="0">
              <a:lnSpc>
                <a:spcPts val="2238"/>
              </a:lnSpc>
            </a:pPr>
            <a:r>
              <a:rPr lang="en-US" b="true" sz="1598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XSS, Command Injection 등</a:t>
            </a:r>
          </a:p>
          <a:p>
            <a:pPr algn="ctr" marL="0" indent="0" lvl="0">
              <a:lnSpc>
                <a:spcPts val="2238"/>
              </a:lnSpc>
            </a:pPr>
            <a:r>
              <a:rPr lang="en-US" b="true" sz="1598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주요 웹 공격을 실시간으로</a:t>
            </a:r>
          </a:p>
          <a:p>
            <a:pPr algn="ctr" marL="0" indent="0" lvl="0">
              <a:lnSpc>
                <a:spcPts val="2238"/>
              </a:lnSpc>
            </a:pPr>
            <a:r>
              <a:rPr lang="en-US" b="true" sz="1598" spc="-31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탐지하고 차단합니다.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9045040" y="3986829"/>
            <a:ext cx="6783476" cy="442671"/>
            <a:chOff x="0" y="0"/>
            <a:chExt cx="1786595" cy="1165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86595" cy="116588"/>
            </a:xfrm>
            <a:custGeom>
              <a:avLst/>
              <a:gdLst/>
              <a:ahLst/>
              <a:cxnLst/>
              <a:rect r="r" b="b" t="t" l="l"/>
              <a:pathLst>
                <a:path h="116588" w="1786595">
                  <a:moveTo>
                    <a:pt x="0" y="0"/>
                  </a:moveTo>
                  <a:lnTo>
                    <a:pt x="1786595" y="0"/>
                  </a:lnTo>
                  <a:lnTo>
                    <a:pt x="1786595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786595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04895" y="410853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58977" y="3453544"/>
            <a:ext cx="7443754" cy="5126886"/>
          </a:xfrm>
          <a:custGeom>
            <a:avLst/>
            <a:gdLst/>
            <a:ahLst/>
            <a:cxnLst/>
            <a:rect r="r" b="b" t="t" l="l"/>
            <a:pathLst>
              <a:path h="5126886" w="7443754">
                <a:moveTo>
                  <a:pt x="0" y="0"/>
                </a:moveTo>
                <a:lnTo>
                  <a:pt x="7443755" y="0"/>
                </a:lnTo>
                <a:lnTo>
                  <a:pt x="7443755" y="5126886"/>
                </a:lnTo>
                <a:lnTo>
                  <a:pt x="0" y="51268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172430" y="2864224"/>
            <a:ext cx="5745219" cy="39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OVERALL ARCHITECTURE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72430" y="2201557"/>
            <a:ext cx="5745219" cy="69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5"/>
              </a:lnSpc>
            </a:pPr>
            <a:r>
              <a:rPr lang="en-US" b="true" sz="4097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아키텍처 구성도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51516" y="4012285"/>
            <a:ext cx="2569271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AWS 서비스 구성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45040" y="4712204"/>
            <a:ext cx="7581665" cy="2235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0"/>
              </a:lnSpc>
            </a:pPr>
            <a:r>
              <a:rPr lang="en-US" sz="1836" spc="-73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본 프로젝트는 AWS 기반 멀티리전 금융 서비스 아키텍처로 구성되어 있습니다. 핵심 서비스로는 VPC(가상 네트워크), EC2(컴퓨팅), ALB(로드 밸런싱), Transit Gateway(리전 간 연결), OpenVPN(보안 접속), RDS(데이터베이스)를 활용합니다.</a:t>
            </a:r>
          </a:p>
          <a:p>
            <a:pPr algn="l" marL="0" indent="0" lvl="0">
              <a:lnSpc>
                <a:spcPts val="2570"/>
              </a:lnSpc>
            </a:pPr>
            <a:r>
              <a:rPr lang="en-US" sz="1836" spc="-73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글로벌 서비스 최적화를 위해 CloudFront(CDN), S3(정적 콘텐츠 저장), </a:t>
            </a:r>
          </a:p>
          <a:p>
            <a:pPr algn="l" marL="0" indent="0" lvl="0">
              <a:lnSpc>
                <a:spcPts val="2570"/>
              </a:lnSpc>
            </a:pPr>
            <a:r>
              <a:rPr lang="en-US" sz="1836" spc="-73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WAF(웹 방화벽), Global Accelerator(글로벌 라우팅)를 적용하였습니다.</a:t>
            </a:r>
          </a:p>
          <a:p>
            <a:pPr algn="l" marL="0" indent="0" lvl="0">
              <a:lnSpc>
                <a:spcPts val="2570"/>
              </a:lnSpc>
            </a:pPr>
            <a:r>
              <a:rPr lang="en-US" sz="1836" spc="-73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서울 리전과 상파울루 리전을 Transit Gateway로 연결하여 멀티리전 고가용성을 </a:t>
            </a:r>
          </a:p>
          <a:p>
            <a:pPr algn="l" marL="0" indent="0" lvl="0">
              <a:lnSpc>
                <a:spcPts val="2570"/>
              </a:lnSpc>
            </a:pPr>
            <a:r>
              <a:rPr lang="en-US" sz="1836" spc="-73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확보하고, 각 리전에 웹 서버와 데이터베이스를 이중화 구성하였습니다.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8164" y="1255727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437346" y="3171066"/>
            <a:ext cx="1760003" cy="442671"/>
            <a:chOff x="0" y="0"/>
            <a:chExt cx="463540" cy="1165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3540" cy="116588"/>
            </a:xfrm>
            <a:custGeom>
              <a:avLst/>
              <a:gdLst/>
              <a:ahLst/>
              <a:cxnLst/>
              <a:rect r="r" b="b" t="t" l="l"/>
              <a:pathLst>
                <a:path h="116588" w="463540">
                  <a:moveTo>
                    <a:pt x="0" y="0"/>
                  </a:moveTo>
                  <a:lnTo>
                    <a:pt x="463540" y="0"/>
                  </a:lnTo>
                  <a:lnTo>
                    <a:pt x="463540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63540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43483" y="3171066"/>
            <a:ext cx="1732616" cy="442671"/>
            <a:chOff x="0" y="0"/>
            <a:chExt cx="456327" cy="1165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6327" cy="116588"/>
            </a:xfrm>
            <a:custGeom>
              <a:avLst/>
              <a:gdLst/>
              <a:ahLst/>
              <a:cxnLst/>
              <a:rect r="r" b="b" t="t" l="l"/>
              <a:pathLst>
                <a:path h="116588" w="456327">
                  <a:moveTo>
                    <a:pt x="0" y="0"/>
                  </a:moveTo>
                  <a:lnTo>
                    <a:pt x="456327" y="0"/>
                  </a:lnTo>
                  <a:lnTo>
                    <a:pt x="456327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56327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560269" y="3292773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809398" y="413053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 flipV="true">
            <a:off x="9248938" y="3171066"/>
            <a:ext cx="0" cy="376635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2701775" y="3067834"/>
            <a:ext cx="1151112" cy="1143709"/>
          </a:xfrm>
          <a:custGeom>
            <a:avLst/>
            <a:gdLst/>
            <a:ahLst/>
            <a:cxnLst/>
            <a:rect r="r" b="b" t="t" l="l"/>
            <a:pathLst>
              <a:path h="1143709" w="1151112">
                <a:moveTo>
                  <a:pt x="0" y="0"/>
                </a:moveTo>
                <a:lnTo>
                  <a:pt x="1151112" y="0"/>
                </a:lnTo>
                <a:lnTo>
                  <a:pt x="1151112" y="1143709"/>
                </a:lnTo>
                <a:lnTo>
                  <a:pt x="0" y="11437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075897" y="3067834"/>
            <a:ext cx="986561" cy="961003"/>
          </a:xfrm>
          <a:custGeom>
            <a:avLst/>
            <a:gdLst/>
            <a:ahLst/>
            <a:cxnLst/>
            <a:rect r="r" b="b" t="t" l="l"/>
            <a:pathLst>
              <a:path h="961003" w="986561">
                <a:moveTo>
                  <a:pt x="0" y="0"/>
                </a:moveTo>
                <a:lnTo>
                  <a:pt x="986561" y="0"/>
                </a:lnTo>
                <a:lnTo>
                  <a:pt x="986561" y="961002"/>
                </a:lnTo>
                <a:lnTo>
                  <a:pt x="0" y="9610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615364" y="7050532"/>
            <a:ext cx="6528636" cy="1885144"/>
          </a:xfrm>
          <a:custGeom>
            <a:avLst/>
            <a:gdLst/>
            <a:ahLst/>
            <a:cxnLst/>
            <a:rect r="r" b="b" t="t" l="l"/>
            <a:pathLst>
              <a:path h="1885144" w="6528636">
                <a:moveTo>
                  <a:pt x="0" y="0"/>
                </a:moveTo>
                <a:lnTo>
                  <a:pt x="6528636" y="0"/>
                </a:lnTo>
                <a:lnTo>
                  <a:pt x="6528636" y="1885144"/>
                </a:lnTo>
                <a:lnTo>
                  <a:pt x="0" y="18851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327206" y="2570139"/>
            <a:ext cx="5745219" cy="30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3"/>
              </a:lnSpc>
            </a:pPr>
            <a:r>
              <a:rPr lang="en-US" sz="1780" spc="356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NETWORK ARCHITECTURE DESIGN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06865" y="4414704"/>
            <a:ext cx="2136125" cy="33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13"/>
              </a:lnSpc>
            </a:pPr>
            <a:r>
              <a:rPr lang="en-US" sz="2009" spc="301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TRANSIT GATEWAY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43527" y="4083514"/>
            <a:ext cx="2136125" cy="33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13"/>
              </a:lnSpc>
            </a:pPr>
            <a:r>
              <a:rPr lang="en-US" sz="2009" spc="2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MULTI-REGION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27206" y="1888423"/>
            <a:ext cx="5745219" cy="69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5"/>
              </a:lnSpc>
            </a:pPr>
            <a:r>
              <a:rPr lang="en-US" b="true" sz="4097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네트워크 설계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843823" y="3221269"/>
            <a:ext cx="1229314" cy="248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9"/>
              </a:lnSpc>
            </a:pPr>
            <a:r>
              <a:rPr lang="en-US" b="true" sz="1471" spc="-29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TGW 선택 이유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98468" y="3253921"/>
            <a:ext cx="1184382" cy="248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9"/>
              </a:lnSpc>
            </a:pPr>
            <a:r>
              <a:rPr lang="en-US" b="true" sz="1471" spc="-29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네트워크 구조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37346" y="3713496"/>
            <a:ext cx="6460275" cy="333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43"/>
              </a:lnSpc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VPC Peering 대신 Transit Gateway를 선택한 이유는</a:t>
            </a:r>
          </a:p>
          <a:p>
            <a:pPr algn="l" marL="0" indent="0" lvl="0">
              <a:lnSpc>
                <a:spcPts val="2443"/>
              </a:lnSpc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다음과 같습니다.</a:t>
            </a:r>
          </a:p>
          <a:p>
            <a:pPr algn="l" marL="0" indent="0" lvl="0">
              <a:lnSpc>
                <a:spcPts val="2443"/>
              </a:lnSpc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중앙집중형 네트워크 관리 용이</a:t>
            </a:r>
          </a:p>
          <a:p>
            <a:pPr algn="l" marL="376843" indent="-188422" lvl="1">
              <a:lnSpc>
                <a:spcPts val="2443"/>
              </a:lnSpc>
              <a:buFont typeface="Arial"/>
              <a:buChar char="•"/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허브-스포크 구조로 모든 VPC 연결 관리</a:t>
            </a:r>
          </a:p>
          <a:p>
            <a:pPr algn="l" marL="376843" indent="-188422" lvl="1">
              <a:lnSpc>
                <a:spcPts val="2443"/>
              </a:lnSpc>
              <a:buFont typeface="Arial"/>
              <a:buChar char="•"/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복잡한 피어링 메시 구조 회피</a:t>
            </a:r>
          </a:p>
          <a:p>
            <a:pPr algn="l" marL="0" indent="0" lvl="0">
              <a:lnSpc>
                <a:spcPts val="2443"/>
              </a:lnSpc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멀티리전 확장성 확보</a:t>
            </a:r>
          </a:p>
          <a:p>
            <a:pPr algn="l" marL="376843" indent="-188422" lvl="1">
              <a:lnSpc>
                <a:spcPts val="2443"/>
              </a:lnSpc>
              <a:buFont typeface="Arial"/>
              <a:buChar char="•"/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새로운 리전 추가 시 단일 연결로 해결</a:t>
            </a:r>
          </a:p>
          <a:p>
            <a:pPr algn="l" marL="376843" indent="-188422" lvl="1">
              <a:lnSpc>
                <a:spcPts val="2443"/>
              </a:lnSpc>
              <a:buFont typeface="Arial"/>
              <a:buChar char="•"/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글로벌 확장에 유연한 대응 가능</a:t>
            </a:r>
          </a:p>
          <a:p>
            <a:pPr algn="l" marL="0" indent="0" lvl="0">
              <a:lnSpc>
                <a:spcPts val="2443"/>
              </a:lnSpc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금융 서비스 수준의 통신 안정성</a:t>
            </a:r>
          </a:p>
          <a:p>
            <a:pPr algn="l" marL="376843" indent="-188422" lvl="1">
              <a:lnSpc>
                <a:spcPts val="2443"/>
              </a:lnSpc>
              <a:buFont typeface="Arial"/>
              <a:buChar char="•"/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고가용성 및 대역폭 보장</a:t>
            </a:r>
          </a:p>
          <a:p>
            <a:pPr algn="l" marL="376843" indent="-188422" lvl="1">
              <a:lnSpc>
                <a:spcPts val="2443"/>
              </a:lnSpc>
              <a:buFont typeface="Arial"/>
              <a:buChar char="•"/>
            </a:pPr>
            <a:r>
              <a:rPr lang="en-US" sz="1745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일관된 라우팅 정책 적용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643483" y="3713496"/>
            <a:ext cx="3667468" cy="406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멀티리전 네트워크 구조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┌────────────────────────┐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     Seoul Region (ap-northeast-2)         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┌─────────────────────┐    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│      Seoul VPC           │    │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│   (Web/App Server) │    │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└──────────┬──────────┘    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└───────────────┼────────┘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┌────────────┴───────────┐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Transit Gateway     │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(Inter-Region Hub)  │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└────────────┬───────────┘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┌───────────────┼────────┐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     Sao Paulo Region (sa-east-1)         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┌──────────┴──────────┐ 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│   Sao Paulo VPC    │    │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│   (DR/Global User) │    │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│    └─────────────────────┘   </a:t>
            </a:r>
          </a:p>
          <a:p>
            <a:pPr algn="l" marL="0" indent="0" lvl="0">
              <a:lnSpc>
                <a:spcPts val="1551"/>
              </a:lnSpc>
            </a:pPr>
            <a:r>
              <a:rPr lang="en-US" sz="1108" spc="-44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└────────────────────────┘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1767308" y="3303051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014066" y="3692717"/>
            <a:ext cx="2832651" cy="442671"/>
            <a:chOff x="0" y="0"/>
            <a:chExt cx="746048" cy="1165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173921" y="3814425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007502" y="4246801"/>
            <a:ext cx="2839215" cy="1452381"/>
            <a:chOff x="0" y="0"/>
            <a:chExt cx="747777" cy="382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159818" y="3692717"/>
            <a:ext cx="2832651" cy="442671"/>
            <a:chOff x="0" y="0"/>
            <a:chExt cx="746048" cy="1165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319673" y="3814425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303832" y="3692717"/>
            <a:ext cx="2832651" cy="442671"/>
            <a:chOff x="0" y="0"/>
            <a:chExt cx="746048" cy="1165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153254" y="4246801"/>
            <a:ext cx="2839215" cy="1452381"/>
            <a:chOff x="0" y="0"/>
            <a:chExt cx="747777" cy="382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9463688" y="3814425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297268" y="4246801"/>
            <a:ext cx="2839215" cy="1452381"/>
            <a:chOff x="0" y="0"/>
            <a:chExt cx="747777" cy="382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441283" y="4246801"/>
            <a:ext cx="2839215" cy="1452381"/>
            <a:chOff x="0" y="0"/>
            <a:chExt cx="747777" cy="382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447847" y="3692717"/>
            <a:ext cx="2832651" cy="442671"/>
            <a:chOff x="0" y="0"/>
            <a:chExt cx="746048" cy="1165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2607702" y="3814425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4209073" y="2982691"/>
            <a:ext cx="436073" cy="436073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354824" y="2982691"/>
            <a:ext cx="436073" cy="436073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498839" y="2982691"/>
            <a:ext cx="436073" cy="436073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642854" y="2982691"/>
            <a:ext cx="436073" cy="436073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AutoShape 51" id="51"/>
          <p:cNvSpPr/>
          <p:nvPr/>
        </p:nvSpPr>
        <p:spPr>
          <a:xfrm flipV="true">
            <a:off x="3007502" y="3200728"/>
            <a:ext cx="1227299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6522258" y="5799094"/>
            <a:ext cx="2470210" cy="2607444"/>
          </a:xfrm>
          <a:custGeom>
            <a:avLst/>
            <a:gdLst/>
            <a:ahLst/>
            <a:cxnLst/>
            <a:rect r="r" b="b" t="t" l="l"/>
            <a:pathLst>
              <a:path h="2607444" w="2470210">
                <a:moveTo>
                  <a:pt x="0" y="0"/>
                </a:moveTo>
                <a:lnTo>
                  <a:pt x="2470210" y="0"/>
                </a:lnTo>
                <a:lnTo>
                  <a:pt x="2470210" y="2607444"/>
                </a:lnTo>
                <a:lnTo>
                  <a:pt x="0" y="26074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2028725" y="5799094"/>
            <a:ext cx="4220683" cy="2607444"/>
          </a:xfrm>
          <a:custGeom>
            <a:avLst/>
            <a:gdLst/>
            <a:ahLst/>
            <a:cxnLst/>
            <a:rect r="r" b="b" t="t" l="l"/>
            <a:pathLst>
              <a:path h="2607444" w="4220683">
                <a:moveTo>
                  <a:pt x="0" y="0"/>
                </a:moveTo>
                <a:lnTo>
                  <a:pt x="4220683" y="0"/>
                </a:lnTo>
                <a:lnTo>
                  <a:pt x="4220683" y="2607444"/>
                </a:lnTo>
                <a:lnTo>
                  <a:pt x="0" y="26074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9303832" y="5799094"/>
            <a:ext cx="6340290" cy="2607444"/>
          </a:xfrm>
          <a:custGeom>
            <a:avLst/>
            <a:gdLst/>
            <a:ahLst/>
            <a:cxnLst/>
            <a:rect r="r" b="b" t="t" l="l"/>
            <a:pathLst>
              <a:path h="2607444" w="6340290">
                <a:moveTo>
                  <a:pt x="0" y="0"/>
                </a:moveTo>
                <a:lnTo>
                  <a:pt x="6340290" y="0"/>
                </a:lnTo>
                <a:lnTo>
                  <a:pt x="6340290" y="2607444"/>
                </a:lnTo>
                <a:lnTo>
                  <a:pt x="0" y="26074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3420543" y="3742920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OpenVPN 서버 접속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566294" y="3742920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외부 관리자</a:t>
            </a: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접속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405726" y="4334933"/>
            <a:ext cx="2405767" cy="155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OpenVPN 기반 원격 접속 환경을 구축하여</a:t>
            </a:r>
          </a:p>
          <a:p>
            <a:pPr algn="l" marL="0" indent="0" lvl="0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AWS Private 자원에 안전하게 접근하도록 구성.</a:t>
            </a:r>
          </a:p>
          <a:p>
            <a:pPr algn="l" marL="0" indent="0" lvl="0">
              <a:lnSpc>
                <a:spcPts val="2482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9710309" y="3742920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PRIVATE WEB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854323" y="3742920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RDS 접근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549741" y="4472344"/>
            <a:ext cx="2402225" cy="92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Private Subnet 내</a:t>
            </a:r>
          </a:p>
          <a:p>
            <a:pPr algn="l" marL="0" indent="0" lvl="0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웹서버에 접근하며</a:t>
            </a:r>
          </a:p>
          <a:p>
            <a:pPr algn="l" marL="0" indent="0" lvl="0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Security Group 적용.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693756" y="4472344"/>
            <a:ext cx="2402225" cy="92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웹서버를 통해서만</a:t>
            </a:r>
          </a:p>
          <a:p>
            <a:pPr algn="l" marL="0" indent="0" lvl="0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RDS MariaDB에</a:t>
            </a:r>
          </a:p>
          <a:p>
            <a:pPr algn="l" marL="0" indent="0" lvl="0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접근 가능합니다.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271390" y="2475648"/>
            <a:ext cx="5745219" cy="39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SECURITY ARCHITECTURE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271390" y="1812981"/>
            <a:ext cx="5745219" cy="69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5"/>
              </a:lnSpc>
            </a:pPr>
            <a:r>
              <a:rPr lang="en-US" b="true" sz="4097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보안 설계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111278" y="3020070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1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257030" y="3020070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2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401044" y="3020070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3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545059" y="3020070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4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886017" y="8473213"/>
            <a:ext cx="10812510" cy="37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9"/>
              </a:lnSpc>
              <a:spcBef>
                <a:spcPct val="0"/>
              </a:spcBef>
            </a:pPr>
            <a:r>
              <a:rPr lang="en-US" b="true" sz="2163" spc="-64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외부 직접 접근 차단으로 DB 및 서버 보안을 강화하고 금융 서비스 수준의 접근 제어를 구현합니다.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224226" y="4334933"/>
            <a:ext cx="2405767" cy="1242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OpenVPN 서버에 SSH </a:t>
            </a:r>
          </a:p>
          <a:p>
            <a:pPr algn="l" marL="0" indent="0" lvl="0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공개키 인증을 사용하여</a:t>
            </a:r>
          </a:p>
          <a:p>
            <a:pPr algn="l" marL="0" indent="0" lvl="0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안전하게 관리자 접근 환경을 구성하였습니다.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014066" y="3692717"/>
            <a:ext cx="2832651" cy="442671"/>
            <a:chOff x="0" y="0"/>
            <a:chExt cx="746048" cy="1165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173921" y="3814425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007502" y="4246801"/>
            <a:ext cx="2839215" cy="1452381"/>
            <a:chOff x="0" y="0"/>
            <a:chExt cx="747777" cy="382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159818" y="3692717"/>
            <a:ext cx="2832651" cy="442671"/>
            <a:chOff x="0" y="0"/>
            <a:chExt cx="746048" cy="1165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319673" y="3814425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303832" y="3692717"/>
            <a:ext cx="2832651" cy="442671"/>
            <a:chOff x="0" y="0"/>
            <a:chExt cx="746048" cy="1165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153254" y="4246801"/>
            <a:ext cx="2839215" cy="1452381"/>
            <a:chOff x="0" y="0"/>
            <a:chExt cx="747777" cy="382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9463688" y="3814425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297268" y="4246801"/>
            <a:ext cx="2839215" cy="1452381"/>
            <a:chOff x="0" y="0"/>
            <a:chExt cx="747777" cy="382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441283" y="4246801"/>
            <a:ext cx="2839215" cy="1452381"/>
            <a:chOff x="0" y="0"/>
            <a:chExt cx="747777" cy="382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447847" y="3692717"/>
            <a:ext cx="2832651" cy="442671"/>
            <a:chOff x="0" y="0"/>
            <a:chExt cx="746048" cy="1165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2607702" y="3814425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4209073" y="2982691"/>
            <a:ext cx="436073" cy="436073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354824" y="2982691"/>
            <a:ext cx="436073" cy="436073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498839" y="2982691"/>
            <a:ext cx="436073" cy="436073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642854" y="2982691"/>
            <a:ext cx="436073" cy="436073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AutoShape 51" id="51"/>
          <p:cNvSpPr/>
          <p:nvPr/>
        </p:nvSpPr>
        <p:spPr>
          <a:xfrm flipV="true">
            <a:off x="3007502" y="3200728"/>
            <a:ext cx="1227299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1535316" y="5813482"/>
            <a:ext cx="4219553" cy="2763807"/>
          </a:xfrm>
          <a:custGeom>
            <a:avLst/>
            <a:gdLst/>
            <a:ahLst/>
            <a:cxnLst/>
            <a:rect r="r" b="b" t="t" l="l"/>
            <a:pathLst>
              <a:path h="2763807" w="4219553">
                <a:moveTo>
                  <a:pt x="0" y="0"/>
                </a:moveTo>
                <a:lnTo>
                  <a:pt x="4219553" y="0"/>
                </a:lnTo>
                <a:lnTo>
                  <a:pt x="4219553" y="2763807"/>
                </a:lnTo>
                <a:lnTo>
                  <a:pt x="0" y="27638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6153254" y="5803957"/>
            <a:ext cx="3527291" cy="2773332"/>
          </a:xfrm>
          <a:custGeom>
            <a:avLst/>
            <a:gdLst/>
            <a:ahLst/>
            <a:cxnLst/>
            <a:rect r="r" b="b" t="t" l="l"/>
            <a:pathLst>
              <a:path h="2773332" w="3527291">
                <a:moveTo>
                  <a:pt x="0" y="0"/>
                </a:moveTo>
                <a:lnTo>
                  <a:pt x="3527291" y="0"/>
                </a:lnTo>
                <a:lnTo>
                  <a:pt x="3527291" y="2773332"/>
                </a:lnTo>
                <a:lnTo>
                  <a:pt x="0" y="27733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9787509" y="6082435"/>
            <a:ext cx="6839196" cy="2111602"/>
          </a:xfrm>
          <a:custGeom>
            <a:avLst/>
            <a:gdLst/>
            <a:ahLst/>
            <a:cxnLst/>
            <a:rect r="r" b="b" t="t" l="l"/>
            <a:pathLst>
              <a:path h="2111602" w="6839196">
                <a:moveTo>
                  <a:pt x="0" y="0"/>
                </a:moveTo>
                <a:lnTo>
                  <a:pt x="6839195" y="0"/>
                </a:lnTo>
                <a:lnTo>
                  <a:pt x="6839195" y="2111602"/>
                </a:lnTo>
                <a:lnTo>
                  <a:pt x="0" y="21116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3420543" y="3742920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Web ACL 생성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566294" y="3742920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WAF 필터링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207006" y="4471020"/>
            <a:ext cx="2738274" cy="92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AWS Managed Rule 적용으로 SQL Injection, XSS, Command Injection 차단.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710309" y="3742920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ALB 라우팅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854323" y="3742920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웹 서버 처리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463688" y="4472344"/>
            <a:ext cx="2488278" cy="92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검증된 요청만 Application</a:t>
            </a:r>
          </a:p>
          <a:p>
            <a:pPr algn="l" marL="0" indent="0" lvl="0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Load Balancer로 전달되어 서버로 분산 라우팅 됩니다.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693756" y="4472344"/>
            <a:ext cx="2402225" cy="926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안전한 요청만 웹 서버에</a:t>
            </a:r>
          </a:p>
          <a:p>
            <a:pPr algn="l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도달하여 서비스가</a:t>
            </a:r>
          </a:p>
          <a:p>
            <a:pPr algn="l" marL="0" indent="0" lvl="0">
              <a:lnSpc>
                <a:spcPts val="2478"/>
              </a:lnSpc>
            </a:pPr>
            <a:r>
              <a:rPr lang="en-US" sz="1770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제공됩니다.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271390" y="2475648"/>
            <a:ext cx="5745219" cy="39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STRENGTHENING WEB SECURITY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271390" y="1812981"/>
            <a:ext cx="5745219" cy="69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5"/>
              </a:lnSpc>
            </a:pPr>
            <a:r>
              <a:rPr lang="en-US" b="true" sz="4097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웹 보안 강화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111278" y="3020070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1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257030" y="3020070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2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401044" y="3020070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3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545059" y="3020070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4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185512" y="4337358"/>
            <a:ext cx="2405767" cy="1242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Web ACL을 생성하고 </a:t>
            </a:r>
          </a:p>
          <a:p>
            <a:pPr algn="l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보안 규칙을 적용하여</a:t>
            </a:r>
          </a:p>
          <a:p>
            <a:pPr algn="l" marL="0" indent="0" lvl="0">
              <a:lnSpc>
                <a:spcPts val="2482"/>
              </a:lnSpc>
            </a:pPr>
            <a:r>
              <a:rPr lang="en-US" sz="1773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웹 애플리케이션 보호 환경을 구성하였습니다.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897577" y="8529664"/>
            <a:ext cx="10812510" cy="37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9"/>
              </a:lnSpc>
              <a:spcBef>
                <a:spcPct val="0"/>
              </a:spcBef>
            </a:pPr>
            <a:r>
              <a:rPr lang="en-US" b="true" sz="2163" spc="-64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AWS WAF를 통해 웹 애플리케이션 공격을 사전 차단하여 보안성을 강화합니다.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9045040" y="3986829"/>
            <a:ext cx="6783476" cy="442671"/>
            <a:chOff x="0" y="0"/>
            <a:chExt cx="1786595" cy="1165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86595" cy="116588"/>
            </a:xfrm>
            <a:custGeom>
              <a:avLst/>
              <a:gdLst/>
              <a:ahLst/>
              <a:cxnLst/>
              <a:rect r="r" b="b" t="t" l="l"/>
              <a:pathLst>
                <a:path h="116588" w="1786595">
                  <a:moveTo>
                    <a:pt x="0" y="0"/>
                  </a:moveTo>
                  <a:lnTo>
                    <a:pt x="1786595" y="0"/>
                  </a:lnTo>
                  <a:lnTo>
                    <a:pt x="1786595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786595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04895" y="410853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773470" y="5688321"/>
            <a:ext cx="4657283" cy="3207704"/>
          </a:xfrm>
          <a:custGeom>
            <a:avLst/>
            <a:gdLst/>
            <a:ahLst/>
            <a:cxnLst/>
            <a:rect r="r" b="b" t="t" l="l"/>
            <a:pathLst>
              <a:path h="3207704" w="4657283">
                <a:moveTo>
                  <a:pt x="0" y="0"/>
                </a:moveTo>
                <a:lnTo>
                  <a:pt x="4657283" y="0"/>
                </a:lnTo>
                <a:lnTo>
                  <a:pt x="4657283" y="3207704"/>
                </a:lnTo>
                <a:lnTo>
                  <a:pt x="0" y="32077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773470" y="5369943"/>
            <a:ext cx="4340395" cy="273132"/>
          </a:xfrm>
          <a:custGeom>
            <a:avLst/>
            <a:gdLst/>
            <a:ahLst/>
            <a:cxnLst/>
            <a:rect r="r" b="b" t="t" l="l"/>
            <a:pathLst>
              <a:path h="273132" w="4340395">
                <a:moveTo>
                  <a:pt x="0" y="0"/>
                </a:moveTo>
                <a:lnTo>
                  <a:pt x="4340395" y="0"/>
                </a:lnTo>
                <a:lnTo>
                  <a:pt x="4340395" y="273131"/>
                </a:lnTo>
                <a:lnTo>
                  <a:pt x="0" y="2731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10857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172430" y="2873749"/>
            <a:ext cx="5745219" cy="381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3"/>
              </a:lnSpc>
            </a:pPr>
            <a:r>
              <a:rPr lang="en-US" sz="2238" spc="447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GLOBAL SERVICE OPTIMIZATION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72430" y="2201557"/>
            <a:ext cx="5745219" cy="69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5"/>
              </a:lnSpc>
            </a:pPr>
            <a:r>
              <a:rPr lang="en-US" b="true" sz="4097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글로벌 서비스 최적화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51516" y="4002760"/>
            <a:ext cx="2569271" cy="31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8"/>
              </a:lnSpc>
            </a:pPr>
            <a:r>
              <a:rPr lang="en-US" b="true" sz="1848" spc="-36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CLOUDFRONT CDN 구성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45040" y="4721729"/>
            <a:ext cx="7432588" cy="293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sz="1713" spc="-68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CloudFront를 활용하여 글로벌 CDN을 구성하고 정적 콘텐츠 배포를 최적화했습니다. 사용자 요청은 CloudFront Edge Location을 거쳐 S3 버킷의 정적 콘텐츠에 접근합니다.</a:t>
            </a:r>
          </a:p>
          <a:p>
            <a:pPr algn="l" marL="0" indent="0" lvl="0">
              <a:lnSpc>
                <a:spcPts val="2399"/>
              </a:lnSpc>
            </a:pPr>
            <a:r>
              <a:rPr lang="en-US" sz="1713" spc="-68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요청 흐름: 사용자 → CloudFront → S3</a:t>
            </a:r>
          </a:p>
          <a:p>
            <a:pPr algn="l" marL="0" indent="0" lvl="0">
              <a:lnSpc>
                <a:spcPts val="2399"/>
              </a:lnSpc>
            </a:pPr>
            <a:r>
              <a:rPr lang="en-US" sz="1713" spc="-68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정적 콘텐츠 캐싱을 통해 오리진 서버 부하를 줄이고, 전 세계 Edge Location에서 콘텐츠를 제공하여 글로벌 사용자의 응답 속도를 대폭 향상시켰습니다. 특히 이미지, CSS, JavaScript 등 정적 리소스의 로딩 시간이 크게 단축되어 사용자 경험이 개선되었습니다.</a:t>
            </a:r>
          </a:p>
          <a:p>
            <a:pPr algn="l" marL="0" indent="0" lvl="0">
              <a:lnSpc>
                <a:spcPts val="2399"/>
              </a:lnSpc>
            </a:pPr>
            <a:r>
              <a:rPr lang="en-US" sz="1713" spc="-68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주요 효과:</a:t>
            </a:r>
          </a:p>
          <a:p>
            <a:pPr algn="l" marL="0" indent="0" lvl="0">
              <a:lnSpc>
                <a:spcPts val="2399"/>
              </a:lnSpc>
            </a:pPr>
            <a:r>
              <a:rPr lang="en-US" sz="1713" spc="-68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전 세계 사용자 응답 속도 향상</a:t>
            </a:r>
          </a:p>
          <a:p>
            <a:pPr algn="l" marL="0" indent="0" lvl="0">
              <a:lnSpc>
                <a:spcPts val="2399"/>
              </a:lnSpc>
            </a:pPr>
            <a:r>
              <a:rPr lang="en-US" sz="1713" spc="-68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오리진 서버 트래픽 감소</a:t>
            </a:r>
          </a:p>
          <a:p>
            <a:pPr algn="l" marL="0" indent="0" lvl="0">
              <a:lnSpc>
                <a:spcPts val="2399"/>
              </a:lnSpc>
            </a:pPr>
            <a:r>
              <a:rPr lang="en-US" sz="1713" spc="-68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콘텐츠 가용성 및 안정성 확보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008661" y="3374113"/>
            <a:ext cx="4340395" cy="273132"/>
          </a:xfrm>
          <a:custGeom>
            <a:avLst/>
            <a:gdLst/>
            <a:ahLst/>
            <a:cxnLst/>
            <a:rect r="r" b="b" t="t" l="l"/>
            <a:pathLst>
              <a:path h="273132" w="4340395">
                <a:moveTo>
                  <a:pt x="0" y="0"/>
                </a:moveTo>
                <a:lnTo>
                  <a:pt x="4340395" y="0"/>
                </a:lnTo>
                <a:lnTo>
                  <a:pt x="4340395" y="273131"/>
                </a:lnTo>
                <a:lnTo>
                  <a:pt x="0" y="2731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108572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33417" y="4008829"/>
            <a:ext cx="1940978" cy="442671"/>
            <a:chOff x="0" y="0"/>
            <a:chExt cx="511204" cy="1165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204" cy="116588"/>
            </a:xfrm>
            <a:custGeom>
              <a:avLst/>
              <a:gdLst/>
              <a:ahLst/>
              <a:cxnLst/>
              <a:rect r="r" b="b" t="t" l="l"/>
              <a:pathLst>
                <a:path h="116588" w="511204">
                  <a:moveTo>
                    <a:pt x="0" y="0"/>
                  </a:moveTo>
                  <a:lnTo>
                    <a:pt x="511204" y="0"/>
                  </a:lnTo>
                  <a:lnTo>
                    <a:pt x="511204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11204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79175" y="4008829"/>
            <a:ext cx="1875491" cy="442671"/>
            <a:chOff x="0" y="0"/>
            <a:chExt cx="493956" cy="1165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3956" cy="116588"/>
            </a:xfrm>
            <a:custGeom>
              <a:avLst/>
              <a:gdLst/>
              <a:ahLst/>
              <a:cxnLst/>
              <a:rect r="r" b="b" t="t" l="l"/>
              <a:pathLst>
                <a:path h="116588" w="493956">
                  <a:moveTo>
                    <a:pt x="0" y="0"/>
                  </a:moveTo>
                  <a:lnTo>
                    <a:pt x="493956" y="0"/>
                  </a:lnTo>
                  <a:lnTo>
                    <a:pt x="493956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93956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156339" y="413053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604567" y="413053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 flipV="true">
            <a:off x="8965399" y="4008829"/>
            <a:ext cx="0" cy="376635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2525419" y="4126386"/>
            <a:ext cx="885147" cy="1169879"/>
          </a:xfrm>
          <a:custGeom>
            <a:avLst/>
            <a:gdLst/>
            <a:ahLst/>
            <a:cxnLst/>
            <a:rect r="r" b="b" t="t" l="l"/>
            <a:pathLst>
              <a:path h="1169879" w="885147">
                <a:moveTo>
                  <a:pt x="0" y="0"/>
                </a:moveTo>
                <a:lnTo>
                  <a:pt x="885147" y="0"/>
                </a:lnTo>
                <a:lnTo>
                  <a:pt x="885147" y="1169879"/>
                </a:lnTo>
                <a:lnTo>
                  <a:pt x="0" y="11698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697005" y="4018027"/>
            <a:ext cx="1174471" cy="735552"/>
          </a:xfrm>
          <a:custGeom>
            <a:avLst/>
            <a:gdLst/>
            <a:ahLst/>
            <a:cxnLst/>
            <a:rect r="r" b="b" t="t" l="l"/>
            <a:pathLst>
              <a:path h="735552" w="1174471">
                <a:moveTo>
                  <a:pt x="0" y="0"/>
                </a:moveTo>
                <a:lnTo>
                  <a:pt x="1174471" y="0"/>
                </a:lnTo>
                <a:lnTo>
                  <a:pt x="1174471" y="735552"/>
                </a:lnTo>
                <a:lnTo>
                  <a:pt x="0" y="7355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172430" y="2864224"/>
            <a:ext cx="5745219" cy="39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HIGH AVAILABILITY ARCHITECTURE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97292" y="5453715"/>
            <a:ext cx="2136125" cy="44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2"/>
              </a:lnSpc>
            </a:pPr>
            <a:r>
              <a:rPr lang="en-US" sz="2594" spc="38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WEB1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59989" y="4902227"/>
            <a:ext cx="2136125" cy="44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2"/>
              </a:lnSpc>
            </a:pPr>
            <a:r>
              <a:rPr lang="en-US" sz="2594" spc="2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WEB2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172430" y="2201557"/>
            <a:ext cx="5745219" cy="69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5"/>
              </a:lnSpc>
            </a:pPr>
            <a:r>
              <a:rPr lang="en-US" b="true" sz="4097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고가용성 설계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39893" y="4059032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ALB 로드 분산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85652" y="4059032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서비스 지속성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033417" y="4630214"/>
            <a:ext cx="4441445" cy="283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Application Load Balancer(ALB)를 통해 트래픽을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WEB1과 WEB2 서버로 균등하게 분산합니다.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ALB Health Check로 서버 상태 실시간 모니터링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라운드 로빈 방식의 트래픽 분배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단일 서버 장애 시 자동 트래픽 우회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세션 유지를 위한 Sticky Session 지원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이중화 구성으로 단일 장애점(SPOF)을 제거하여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안정적인 금융 서비스 운영이 가능합니다.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79175" y="4630214"/>
            <a:ext cx="4593131" cy="251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장애 발생 시에도 서비스 중단 없이 운영을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지속할 수 있는 고가용성 아키텍처를 구현했습니다.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WEB1 장애 → ALB가 WEB2로 자동 전환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WEB2 장애 → ALB가 WEB1로 자동 전환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Health Check 실패 시 즉시 트래픽 차단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복구 후 자동으로 로드 밸런싱 재개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금융 서비스의 핵심인 무중단 운영을 통해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고객 신뢰도와 서비스 품질을 보장합니다.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969046" y="3245508"/>
            <a:ext cx="2139013" cy="442671"/>
            <a:chOff x="0" y="0"/>
            <a:chExt cx="563362" cy="1165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3362" cy="116588"/>
            </a:xfrm>
            <a:custGeom>
              <a:avLst/>
              <a:gdLst/>
              <a:ahLst/>
              <a:cxnLst/>
              <a:rect r="r" b="b" t="t" l="l"/>
              <a:pathLst>
                <a:path h="116588" w="563362">
                  <a:moveTo>
                    <a:pt x="0" y="0"/>
                  </a:moveTo>
                  <a:lnTo>
                    <a:pt x="563362" y="0"/>
                  </a:lnTo>
                  <a:lnTo>
                    <a:pt x="563362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63362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14805" y="3245508"/>
            <a:ext cx="2540445" cy="442671"/>
            <a:chOff x="0" y="0"/>
            <a:chExt cx="669088" cy="1165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9088" cy="116588"/>
            </a:xfrm>
            <a:custGeom>
              <a:avLst/>
              <a:gdLst/>
              <a:ahLst/>
              <a:cxnLst/>
              <a:rect r="r" b="b" t="t" l="l"/>
              <a:pathLst>
                <a:path h="116588" w="669088">
                  <a:moveTo>
                    <a:pt x="0" y="0"/>
                  </a:moveTo>
                  <a:lnTo>
                    <a:pt x="669088" y="0"/>
                  </a:lnTo>
                  <a:lnTo>
                    <a:pt x="66908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6908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091969" y="336721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540197" y="336721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 flipV="true">
            <a:off x="8901029" y="3245508"/>
            <a:ext cx="0" cy="376635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2405253" y="3047857"/>
            <a:ext cx="991463" cy="1150471"/>
          </a:xfrm>
          <a:custGeom>
            <a:avLst/>
            <a:gdLst/>
            <a:ahLst/>
            <a:cxnLst/>
            <a:rect r="r" b="b" t="t" l="l"/>
            <a:pathLst>
              <a:path h="1150471" w="991463">
                <a:moveTo>
                  <a:pt x="0" y="0"/>
                </a:moveTo>
                <a:lnTo>
                  <a:pt x="991462" y="0"/>
                </a:lnTo>
                <a:lnTo>
                  <a:pt x="991462" y="1150471"/>
                </a:lnTo>
                <a:lnTo>
                  <a:pt x="0" y="11504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772832" y="3174493"/>
            <a:ext cx="895310" cy="897199"/>
          </a:xfrm>
          <a:custGeom>
            <a:avLst/>
            <a:gdLst/>
            <a:ahLst/>
            <a:cxnLst/>
            <a:rect r="r" b="b" t="t" l="l"/>
            <a:pathLst>
              <a:path h="897199" w="895310">
                <a:moveTo>
                  <a:pt x="0" y="0"/>
                </a:moveTo>
                <a:lnTo>
                  <a:pt x="895311" y="0"/>
                </a:lnTo>
                <a:lnTo>
                  <a:pt x="895311" y="897199"/>
                </a:lnTo>
                <a:lnTo>
                  <a:pt x="0" y="8971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969046" y="5974954"/>
            <a:ext cx="4222830" cy="2945424"/>
          </a:xfrm>
          <a:custGeom>
            <a:avLst/>
            <a:gdLst/>
            <a:ahLst/>
            <a:cxnLst/>
            <a:rect r="r" b="b" t="t" l="l"/>
            <a:pathLst>
              <a:path h="2945424" w="4222830">
                <a:moveTo>
                  <a:pt x="0" y="0"/>
                </a:moveTo>
                <a:lnTo>
                  <a:pt x="4222830" y="0"/>
                </a:lnTo>
                <a:lnTo>
                  <a:pt x="4222830" y="2945424"/>
                </a:lnTo>
                <a:lnTo>
                  <a:pt x="0" y="294542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172430" y="2551089"/>
            <a:ext cx="5745219" cy="39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GLOBAL ACCELERATOR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32921" y="4219295"/>
            <a:ext cx="2136125" cy="44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2"/>
              </a:lnSpc>
            </a:pPr>
            <a:r>
              <a:rPr lang="en-US" sz="2594" spc="38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한국 사용자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95619" y="4138907"/>
            <a:ext cx="2136125" cy="44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2"/>
              </a:lnSpc>
            </a:pPr>
            <a:r>
              <a:rPr lang="en-US" sz="2594" spc="2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미국 사용자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72430" y="1888423"/>
            <a:ext cx="5745219" cy="69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5"/>
              </a:lnSpc>
            </a:pPr>
            <a:r>
              <a:rPr lang="en-US" b="true" sz="4097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글로벌 최적 경로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375523" y="3295711"/>
            <a:ext cx="173253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서울 리전 라우팅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821281" y="3295711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상파울루 리전 라우팅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969046" y="3753724"/>
            <a:ext cx="4441445" cy="220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한국 사용자는 Global Accelerator를 통해 자동으로 서울 리전으로 연결됩니다.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AWS 글로벌 네트워크 활용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최적 경로 자동 선택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지연 시간 최소화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Anycast IP 기반 라우팅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효과: 한국 사용자 응답 속도 50% 이상 개선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14805" y="3753724"/>
            <a:ext cx="4593131" cy="220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미국 및 남미 사용자는 상파울루 리전으로 자동 라우팅됩니다.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지리적 근접성 기반 라우팅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리전 간 자동 장애 조치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글로벌 서비스 가용성 확보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단일 엔드포인트로 관리 간소화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효과: 글로벌 사용자 경험 일관성 확보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1088657" y="5974954"/>
            <a:ext cx="5733185" cy="2945424"/>
          </a:xfrm>
          <a:custGeom>
            <a:avLst/>
            <a:gdLst/>
            <a:ahLst/>
            <a:cxnLst/>
            <a:rect r="r" b="b" t="t" l="l"/>
            <a:pathLst>
              <a:path h="2945424" w="5733185">
                <a:moveTo>
                  <a:pt x="0" y="0"/>
                </a:moveTo>
                <a:lnTo>
                  <a:pt x="5733185" y="0"/>
                </a:lnTo>
                <a:lnTo>
                  <a:pt x="5733185" y="2945424"/>
                </a:lnTo>
                <a:lnTo>
                  <a:pt x="0" y="29454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098381" y="3986236"/>
            <a:ext cx="3279783" cy="327978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6378164" y="5626127"/>
            <a:ext cx="1494022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AutoShape 15" id="15"/>
          <p:cNvSpPr/>
          <p:nvPr/>
        </p:nvSpPr>
        <p:spPr>
          <a:xfrm>
            <a:off x="10334329" y="4087693"/>
            <a:ext cx="4683914" cy="0"/>
          </a:xfrm>
          <a:prstGeom prst="line">
            <a:avLst/>
          </a:prstGeom>
          <a:ln cap="flat" w="38100">
            <a:solidFill>
              <a:srgbClr val="DDC1A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334329" y="5626127"/>
            <a:ext cx="4683914" cy="0"/>
          </a:xfrm>
          <a:prstGeom prst="line">
            <a:avLst/>
          </a:prstGeom>
          <a:ln cap="flat" w="38100">
            <a:solidFill>
              <a:srgbClr val="DDC1A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334329" y="7167710"/>
            <a:ext cx="4683914" cy="0"/>
          </a:xfrm>
          <a:prstGeom prst="line">
            <a:avLst/>
          </a:prstGeom>
          <a:ln cap="flat" w="38100">
            <a:solidFill>
              <a:srgbClr val="DDC1A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8169658" y="4087693"/>
            <a:ext cx="2164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8169658" y="5626127"/>
            <a:ext cx="2164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8169658" y="7167710"/>
            <a:ext cx="2164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8169658" y="4215395"/>
            <a:ext cx="2164671" cy="272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2"/>
              </a:lnSpc>
            </a:pPr>
            <a:r>
              <a:rPr lang="en-US" b="true" sz="1630" spc="-3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PRIVATE SUBNET 접근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72430" y="2873749"/>
            <a:ext cx="5745219" cy="34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2"/>
              </a:lnSpc>
            </a:pPr>
            <a:r>
              <a:rPr lang="en-US" sz="1973" spc="394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DATABASE DESIGN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72430" y="2201557"/>
            <a:ext cx="5745219" cy="69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5"/>
              </a:lnSpc>
            </a:pPr>
            <a:r>
              <a:rPr lang="en-US" b="true" sz="4097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데이터베이스 설계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19134" y="5197341"/>
            <a:ext cx="2364583" cy="845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7"/>
              </a:lnSpc>
            </a:pPr>
            <a:r>
              <a:rPr lang="en-US" b="true" sz="3297">
                <a:solidFill>
                  <a:srgbClr val="FFFFFF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RDS</a:t>
            </a:r>
          </a:p>
          <a:p>
            <a:pPr algn="ctr" marL="0" indent="0" lvl="0">
              <a:lnSpc>
                <a:spcPts val="3297"/>
              </a:lnSpc>
            </a:pPr>
            <a:r>
              <a:rPr lang="en-US" b="true" sz="3297">
                <a:solidFill>
                  <a:srgbClr val="FFFFFF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MARIADB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69658" y="5753830"/>
            <a:ext cx="2164671" cy="272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2"/>
              </a:lnSpc>
            </a:pPr>
            <a:r>
              <a:rPr lang="en-US" b="true" sz="1630" spc="-3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SECURITY GROUP 제한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69658" y="7295413"/>
            <a:ext cx="2164671" cy="272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2"/>
              </a:lnSpc>
            </a:pPr>
            <a:r>
              <a:rPr lang="en-US" b="true" sz="1630" spc="-32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향후 개선 계획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34329" y="4208201"/>
            <a:ext cx="4855290" cy="79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웹서버에서 RDS MariaDB로의 접근은 Private Subnet을</a:t>
            </a:r>
          </a:p>
          <a:p>
            <a:pPr algn="l" marL="0" indent="0" lvl="0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통해서만 가능합니다. 외부 인터넷에서 직접 접근이</a:t>
            </a:r>
          </a:p>
          <a:p>
            <a:pPr algn="l" marL="0" indent="0" lvl="0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차단되어 데이터 보안이 강화됩니다.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34329" y="5746636"/>
            <a:ext cx="4855290" cy="79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RDS Security Group은 웹서버 Security Group에서만</a:t>
            </a:r>
          </a:p>
          <a:p>
            <a:pPr algn="l" marL="0" indent="0" lvl="0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3306 포트 접근을 허용합니다. 최소 권한 원칙을 적용하여</a:t>
            </a:r>
          </a:p>
          <a:p>
            <a:pPr algn="l" marL="0" indent="0" lvl="0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불필요한 접근을 원천 차단합니다.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34329" y="7288218"/>
            <a:ext cx="4855290" cy="79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RDS Multi-AZ 배포를 통해 고가용성을 확보하고,</a:t>
            </a:r>
          </a:p>
          <a:p>
            <a:pPr algn="l" marL="0" indent="0" lvl="0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자동 백업 구성으로 데이터 복구 체계를 마련할</a:t>
            </a:r>
          </a:p>
          <a:p>
            <a:pPr algn="l" marL="0" indent="0" lvl="0">
              <a:lnSpc>
                <a:spcPts val="2162"/>
              </a:lnSpc>
            </a:pPr>
            <a:r>
              <a:rPr lang="en-US" sz="1544" spc="-6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예정입니다.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915106" y="4211077"/>
            <a:ext cx="2832651" cy="442671"/>
            <a:chOff x="0" y="0"/>
            <a:chExt cx="746048" cy="1165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074961" y="4332785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2908542" y="4765161"/>
            <a:ext cx="2839215" cy="1452381"/>
            <a:chOff x="0" y="0"/>
            <a:chExt cx="747777" cy="382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60857" y="4211077"/>
            <a:ext cx="2832651" cy="442671"/>
            <a:chOff x="0" y="0"/>
            <a:chExt cx="746048" cy="1165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220713" y="4332785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204872" y="4211077"/>
            <a:ext cx="2832651" cy="442671"/>
            <a:chOff x="0" y="0"/>
            <a:chExt cx="746048" cy="1165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054293" y="4765161"/>
            <a:ext cx="2839215" cy="1452381"/>
            <a:chOff x="0" y="0"/>
            <a:chExt cx="747777" cy="382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9364727" y="4332785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198308" y="4765161"/>
            <a:ext cx="2839215" cy="1452381"/>
            <a:chOff x="0" y="0"/>
            <a:chExt cx="747777" cy="382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342323" y="4765161"/>
            <a:ext cx="2839215" cy="1452381"/>
            <a:chOff x="0" y="0"/>
            <a:chExt cx="747777" cy="382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8886" y="4211077"/>
            <a:ext cx="2832651" cy="442671"/>
            <a:chOff x="0" y="0"/>
            <a:chExt cx="746048" cy="1165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2508742" y="4332785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5"/>
                </a:lnTo>
                <a:lnTo>
                  <a:pt x="0" y="199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4110113" y="3501051"/>
            <a:ext cx="436073" cy="436073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255864" y="3501051"/>
            <a:ext cx="436073" cy="436073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399879" y="3501051"/>
            <a:ext cx="436073" cy="436073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543893" y="3501051"/>
            <a:ext cx="436073" cy="436073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AutoShape 51" id="51"/>
          <p:cNvSpPr/>
          <p:nvPr/>
        </p:nvSpPr>
        <p:spPr>
          <a:xfrm flipV="true">
            <a:off x="2908542" y="3719088"/>
            <a:ext cx="1227299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2908542" y="6288980"/>
            <a:ext cx="3486414" cy="2210765"/>
          </a:xfrm>
          <a:custGeom>
            <a:avLst/>
            <a:gdLst/>
            <a:ahLst/>
            <a:cxnLst/>
            <a:rect r="r" b="b" t="t" l="l"/>
            <a:pathLst>
              <a:path h="2210765" w="3486414">
                <a:moveTo>
                  <a:pt x="0" y="0"/>
                </a:moveTo>
                <a:lnTo>
                  <a:pt x="3486414" y="0"/>
                </a:lnTo>
                <a:lnTo>
                  <a:pt x="3486414" y="2210765"/>
                </a:lnTo>
                <a:lnTo>
                  <a:pt x="0" y="22107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6585286" y="6288980"/>
            <a:ext cx="3316147" cy="2210765"/>
          </a:xfrm>
          <a:custGeom>
            <a:avLst/>
            <a:gdLst/>
            <a:ahLst/>
            <a:cxnLst/>
            <a:rect r="r" b="b" t="t" l="l"/>
            <a:pathLst>
              <a:path h="2210765" w="3316147">
                <a:moveTo>
                  <a:pt x="0" y="0"/>
                </a:moveTo>
                <a:lnTo>
                  <a:pt x="3316147" y="0"/>
                </a:lnTo>
                <a:lnTo>
                  <a:pt x="3316147" y="2210765"/>
                </a:lnTo>
                <a:lnTo>
                  <a:pt x="0" y="22107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0121997" y="6288980"/>
            <a:ext cx="2235919" cy="2210765"/>
          </a:xfrm>
          <a:custGeom>
            <a:avLst/>
            <a:gdLst/>
            <a:ahLst/>
            <a:cxnLst/>
            <a:rect r="r" b="b" t="t" l="l"/>
            <a:pathLst>
              <a:path h="2210765" w="2235919">
                <a:moveTo>
                  <a:pt x="0" y="0"/>
                </a:moveTo>
                <a:lnTo>
                  <a:pt x="2235919" y="0"/>
                </a:lnTo>
                <a:lnTo>
                  <a:pt x="2235919" y="2210765"/>
                </a:lnTo>
                <a:lnTo>
                  <a:pt x="0" y="22107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3321582" y="4261281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회원가입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161015" y="4971654"/>
            <a:ext cx="2402225" cy="94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 정보 입력 폼 구현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및 유효성 검증 로직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적용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467334" y="4261281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DB 저장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306766" y="4971654"/>
            <a:ext cx="2402225" cy="94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RDS MariaDB에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회원 정보 저장 및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암호화 처리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611348" y="4261281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로그인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755363" y="4261281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RDS 연동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450781" y="4971654"/>
            <a:ext cx="2402225" cy="94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세션 기반 인증 구현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및 DB 연동 검증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처리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594795" y="4971654"/>
            <a:ext cx="2402225" cy="94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웹서버와 RDS 간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Private 통신 구성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및 연결 테스트 완료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172430" y="2864224"/>
            <a:ext cx="5745219" cy="39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DEVELOPMENT FEATURES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172430" y="2201557"/>
            <a:ext cx="5745219" cy="69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5"/>
              </a:lnSpc>
            </a:pPr>
            <a:r>
              <a:rPr lang="en-US" b="true" sz="4097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개발 기능 구현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012318" y="3538430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1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158069" y="3538430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2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302084" y="3538430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3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446099" y="3538430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4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984978" y="8533082"/>
            <a:ext cx="10515965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 spc="-65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회원가입 → DB 저장 → 로그인 흐름을 통해 RDS 연동 기능을 성공적으로 구현했습니다.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33417" y="4008829"/>
            <a:ext cx="1950503" cy="442671"/>
            <a:chOff x="0" y="0"/>
            <a:chExt cx="513713" cy="1165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3713" cy="116588"/>
            </a:xfrm>
            <a:custGeom>
              <a:avLst/>
              <a:gdLst/>
              <a:ahLst/>
              <a:cxnLst/>
              <a:rect r="r" b="b" t="t" l="l"/>
              <a:pathLst>
                <a:path h="116588" w="513713">
                  <a:moveTo>
                    <a:pt x="0" y="0"/>
                  </a:moveTo>
                  <a:lnTo>
                    <a:pt x="513713" y="0"/>
                  </a:lnTo>
                  <a:lnTo>
                    <a:pt x="513713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13713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79175" y="4008829"/>
            <a:ext cx="2075516" cy="442671"/>
            <a:chOff x="0" y="0"/>
            <a:chExt cx="546638" cy="1165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6638" cy="116588"/>
            </a:xfrm>
            <a:custGeom>
              <a:avLst/>
              <a:gdLst/>
              <a:ahLst/>
              <a:cxnLst/>
              <a:rect r="r" b="b" t="t" l="l"/>
              <a:pathLst>
                <a:path h="116588" w="546638">
                  <a:moveTo>
                    <a:pt x="0" y="0"/>
                  </a:moveTo>
                  <a:lnTo>
                    <a:pt x="546638" y="0"/>
                  </a:lnTo>
                  <a:lnTo>
                    <a:pt x="54663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4663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156339" y="413053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604567" y="413053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 flipV="true">
            <a:off x="8965399" y="4008829"/>
            <a:ext cx="0" cy="376635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2454963" y="4136089"/>
            <a:ext cx="1028473" cy="1205526"/>
          </a:xfrm>
          <a:custGeom>
            <a:avLst/>
            <a:gdLst/>
            <a:ahLst/>
            <a:cxnLst/>
            <a:rect r="r" b="b" t="t" l="l"/>
            <a:pathLst>
              <a:path h="1205526" w="1028473">
                <a:moveTo>
                  <a:pt x="0" y="0"/>
                </a:moveTo>
                <a:lnTo>
                  <a:pt x="1028473" y="0"/>
                </a:lnTo>
                <a:lnTo>
                  <a:pt x="1028473" y="1205526"/>
                </a:lnTo>
                <a:lnTo>
                  <a:pt x="0" y="12055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743651" y="3836239"/>
            <a:ext cx="1091825" cy="1097284"/>
          </a:xfrm>
          <a:custGeom>
            <a:avLst/>
            <a:gdLst/>
            <a:ahLst/>
            <a:cxnLst/>
            <a:rect r="r" b="b" t="t" l="l"/>
            <a:pathLst>
              <a:path h="1097284" w="1091825">
                <a:moveTo>
                  <a:pt x="0" y="0"/>
                </a:moveTo>
                <a:lnTo>
                  <a:pt x="1091825" y="0"/>
                </a:lnTo>
                <a:lnTo>
                  <a:pt x="1091825" y="1097284"/>
                </a:lnTo>
                <a:lnTo>
                  <a:pt x="0" y="10972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172430" y="2864224"/>
            <a:ext cx="5745219" cy="39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TROUBLESHOOTING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97292" y="5453715"/>
            <a:ext cx="2136125" cy="44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2"/>
              </a:lnSpc>
            </a:pPr>
            <a:r>
              <a:rPr lang="en-US" sz="2594" spc="38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사례 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59989" y="4902227"/>
            <a:ext cx="2136125" cy="44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2"/>
              </a:lnSpc>
            </a:pPr>
            <a:r>
              <a:rPr lang="en-US" sz="2594" spc="2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사례 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172430" y="2201557"/>
            <a:ext cx="5745219" cy="69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5"/>
              </a:lnSpc>
            </a:pPr>
            <a:r>
              <a:rPr lang="en-US" b="true" sz="4097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트러블 슈팅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39893" y="4059032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SSH 접속 실패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85652" y="4059032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TGW 통신 실패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033417" y="4649264"/>
            <a:ext cx="4441445" cy="303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문제: 상파울루 리전 EC2 인스턴스에 SSH 접속 불가</a:t>
            </a:r>
          </a:p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원인 분석:</a:t>
            </a:r>
          </a:p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OpenVPN 서버에 상파울루 VPC 대역 Route 누락</a:t>
            </a:r>
          </a:p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VPN 클라이언트가 상파울루 네트워크 경로를 인식하지 못함</a:t>
            </a:r>
          </a:p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해결 방법:</a:t>
            </a:r>
          </a:p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OpenVPN 서버 설정에 Route 추가</a:t>
            </a:r>
          </a:p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push "route 10.1.0.0 255.255.0.0" 설정</a:t>
            </a:r>
          </a:p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VPN 재연결 후 정상 접속 확인</a:t>
            </a:r>
          </a:p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결과: 상파울루 리전 서버 SSH 접속 성공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79175" y="4649264"/>
            <a:ext cx="4593131" cy="303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문제: 서울 VPC와 상파울루 VPC 간 통신 실패</a:t>
            </a:r>
          </a:p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원인 분석:</a:t>
            </a:r>
          </a:p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Transit Gateway 연결은 완료되었으나</a:t>
            </a:r>
          </a:p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각 VPC 라우팅 테이블에 TGW 경로 미설정</a:t>
            </a:r>
          </a:p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패킷이 TGW로 전달되지 않음</a:t>
            </a:r>
          </a:p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해결 방법:</a:t>
            </a:r>
          </a:p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서울 VPC RT에 상파울루 CIDR → TGW 경로 추가</a:t>
            </a:r>
          </a:p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상파울루 VPC RT에 서울 CIDR → TGW 경로 추가</a:t>
            </a:r>
          </a:p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정적 경로 설정으로 양방향 통신 구성</a:t>
            </a:r>
          </a:p>
          <a:p>
            <a:pPr algn="l" marL="0" indent="0" lvl="0">
              <a:lnSpc>
                <a:spcPts val="2452"/>
              </a:lnSpc>
            </a:pPr>
            <a:r>
              <a:rPr lang="en-US" sz="1751" spc="-7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결과: 멀티리전 간 정상 통신 확인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2078706" y="5661087"/>
            <a:ext cx="415061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2078706" y="7700411"/>
            <a:ext cx="415061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2078706" y="4214316"/>
            <a:ext cx="415061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2078706" y="6253640"/>
            <a:ext cx="415061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1860755" y="5661087"/>
            <a:ext cx="415061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1860755" y="7700411"/>
            <a:ext cx="415061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1860755" y="4214316"/>
            <a:ext cx="415061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1860755" y="6253640"/>
            <a:ext cx="415061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6969730" y="5661087"/>
            <a:ext cx="415061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6969730" y="7700411"/>
            <a:ext cx="415061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6969730" y="4214316"/>
            <a:ext cx="415061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6969730" y="6253640"/>
            <a:ext cx="415061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3935979" y="3956023"/>
            <a:ext cx="436073" cy="43607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935979" y="5995348"/>
            <a:ext cx="436073" cy="43607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827003" y="3956023"/>
            <a:ext cx="436073" cy="436073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827003" y="5995348"/>
            <a:ext cx="436073" cy="436073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718027" y="3956023"/>
            <a:ext cx="436073" cy="436073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18027" y="5995348"/>
            <a:ext cx="436073" cy="436073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708503" y="5076825"/>
            <a:ext cx="4891024" cy="31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 spc="26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VPC, TRANSIT GATEWAY (TGW)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708503" y="7114607"/>
            <a:ext cx="4891024" cy="31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 spc="26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RDS MARIADB (PRIVATE SUBNET)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08503" y="4534972"/>
            <a:ext cx="4891024" cy="53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6"/>
              </a:lnSpc>
            </a:pPr>
            <a:r>
              <a:rPr lang="en-US" b="true" sz="3097" spc="-6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NETWORK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08503" y="6574296"/>
            <a:ext cx="4891024" cy="53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6"/>
              </a:lnSpc>
            </a:pPr>
            <a:r>
              <a:rPr lang="en-US" b="true" sz="3097" spc="-6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DATABASE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838184" y="3993403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838184" y="6032727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599528" y="5076825"/>
            <a:ext cx="4891024" cy="31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 spc="26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EC2 INSTANCE MANAGEMENT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599528" y="7114607"/>
            <a:ext cx="4891024" cy="31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 spc="26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CLOUDFRONT, S3 STATIC HOSTING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599528" y="4534972"/>
            <a:ext cx="4891024" cy="53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6"/>
              </a:lnSpc>
            </a:pPr>
            <a:r>
              <a:rPr lang="en-US" b="true" sz="3097" spc="-6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COMPUTE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599528" y="6574296"/>
            <a:ext cx="4891024" cy="53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6"/>
              </a:lnSpc>
            </a:pPr>
            <a:r>
              <a:rPr lang="en-US" b="true" sz="3097" spc="-6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CDN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729208" y="3993403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729208" y="6032727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5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490552" y="5076825"/>
            <a:ext cx="4891024" cy="31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 spc="26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WAF, OPENVPN, SECURITY GROUP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490552" y="7114607"/>
            <a:ext cx="4891024" cy="31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 spc="26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GLOBAL ACCELERATOR, MULTI-REGION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490552" y="4534972"/>
            <a:ext cx="4891024" cy="53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6"/>
              </a:lnSpc>
            </a:pPr>
            <a:r>
              <a:rPr lang="en-US" b="true" sz="3097" spc="-6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SECURITY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490552" y="6574296"/>
            <a:ext cx="4891024" cy="53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6"/>
              </a:lnSpc>
            </a:pPr>
            <a:r>
              <a:rPr lang="en-US" b="true" sz="3097" spc="-6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GLOBAL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620232" y="3993403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620232" y="6032727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6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172430" y="2864224"/>
            <a:ext cx="5745219" cy="39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AWS SKILLS &amp; EXPERIENCE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172430" y="2201557"/>
            <a:ext cx="5745219" cy="69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5"/>
              </a:lnSpc>
            </a:pPr>
            <a:r>
              <a:rPr lang="en-US" b="true" sz="4097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AWS 역량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915106" y="4824618"/>
            <a:ext cx="2832651" cy="442671"/>
            <a:chOff x="0" y="0"/>
            <a:chExt cx="746048" cy="1165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074961" y="494632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2908542" y="5378702"/>
            <a:ext cx="2839215" cy="1452381"/>
            <a:chOff x="0" y="0"/>
            <a:chExt cx="747777" cy="382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60857" y="4824618"/>
            <a:ext cx="2832651" cy="442671"/>
            <a:chOff x="0" y="0"/>
            <a:chExt cx="746048" cy="1165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220713" y="494632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204872" y="4824618"/>
            <a:ext cx="2832651" cy="442671"/>
            <a:chOff x="0" y="0"/>
            <a:chExt cx="746048" cy="1165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054293" y="5378702"/>
            <a:ext cx="2839215" cy="1452381"/>
            <a:chOff x="0" y="0"/>
            <a:chExt cx="747777" cy="382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9364727" y="494632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198308" y="5378702"/>
            <a:ext cx="2839215" cy="1452381"/>
            <a:chOff x="0" y="0"/>
            <a:chExt cx="747777" cy="382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342323" y="5378702"/>
            <a:ext cx="2839215" cy="1452381"/>
            <a:chOff x="0" y="0"/>
            <a:chExt cx="747777" cy="382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8886" y="4824618"/>
            <a:ext cx="2832651" cy="442671"/>
            <a:chOff x="0" y="0"/>
            <a:chExt cx="746048" cy="1165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2508742" y="494632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4110113" y="4114592"/>
            <a:ext cx="436073" cy="436073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255864" y="4114592"/>
            <a:ext cx="436073" cy="436073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399879" y="4114592"/>
            <a:ext cx="436073" cy="436073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543893" y="4114592"/>
            <a:ext cx="436073" cy="436073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3321582" y="4874822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현재 상태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161015" y="5604245"/>
            <a:ext cx="2402225" cy="898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EC2 기반 수동 운영</a:t>
            </a:r>
          </a:p>
          <a:p>
            <a:pPr algn="l" marL="0" indent="0" lvl="0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환경으로 인프라 관리</a:t>
            </a:r>
          </a:p>
          <a:p>
            <a:pPr algn="l" marL="0" indent="0" lvl="0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효율성 개선 필요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467334" y="4874822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인프라 코드화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306766" y="5604245"/>
            <a:ext cx="2402225" cy="898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Terraform 도입으로</a:t>
            </a:r>
          </a:p>
          <a:p>
            <a:pPr algn="l" marL="0" indent="0" lvl="0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IaC 기반 인프라 자동화</a:t>
            </a:r>
          </a:p>
          <a:p>
            <a:pPr algn="l" marL="0" indent="0" lvl="0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및 버전 관리 구현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611348" y="4874822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모니터링 강화</a:t>
            </a:r>
          </a:p>
        </p:txBody>
      </p:sp>
      <p:sp>
        <p:nvSpPr>
          <p:cNvPr name="AutoShape 56" id="56"/>
          <p:cNvSpPr/>
          <p:nvPr/>
        </p:nvSpPr>
        <p:spPr>
          <a:xfrm flipV="true">
            <a:off x="2908542" y="4332629"/>
            <a:ext cx="1227299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57" id="57"/>
          <p:cNvSpPr txBox="true"/>
          <p:nvPr/>
        </p:nvSpPr>
        <p:spPr>
          <a:xfrm rot="0">
            <a:off x="12755363" y="4874822"/>
            <a:ext cx="2241657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EKS 전환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450781" y="5604245"/>
            <a:ext cx="2402225" cy="898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CloudWatch 모니터링,</a:t>
            </a:r>
          </a:p>
          <a:p>
            <a:pPr algn="l" marL="0" indent="0" lvl="0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Auto Scaling, IAM Role</a:t>
            </a:r>
          </a:p>
          <a:p>
            <a:pPr algn="l" marL="0" indent="0" lvl="0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보안 정책 적용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594795" y="5604245"/>
            <a:ext cx="2402225" cy="898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Kubernetes 기반 EKS로</a:t>
            </a:r>
          </a:p>
          <a:p>
            <a:pPr algn="l" marL="0" indent="0" lvl="0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컨테이너 오케스트레이션</a:t>
            </a:r>
          </a:p>
          <a:p>
            <a:pPr algn="l" marL="0" indent="0" lvl="0">
              <a:lnSpc>
                <a:spcPts val="2425"/>
              </a:lnSpc>
            </a:pPr>
            <a:r>
              <a:rPr lang="en-US" sz="1732" spc="-6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환경 전환 완료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172430" y="2864224"/>
            <a:ext cx="5745219" cy="39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IMPROVEMENT PLAN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172430" y="2201557"/>
            <a:ext cx="5745219" cy="69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5"/>
              </a:lnSpc>
            </a:pPr>
            <a:r>
              <a:rPr lang="en-US" b="true" sz="4097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계획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012318" y="4151971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1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158069" y="4151971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2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302084" y="4151971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3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446099" y="4151971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4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886017" y="7502390"/>
            <a:ext cx="10515965" cy="35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64"/>
              </a:lnSpc>
              <a:spcBef>
                <a:spcPct val="0"/>
              </a:spcBef>
            </a:pPr>
            <a:r>
              <a:rPr lang="en-US" b="true" sz="2117" spc="-63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단계별 개선을 통해 클라우드 네이티브 아키텍처로 전환하여 운영 효율성과 확장성을 극대화합니다.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098381" y="3986236"/>
            <a:ext cx="3279783" cy="327978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6378164" y="5626127"/>
            <a:ext cx="1494022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AutoShape 15" id="15"/>
          <p:cNvSpPr/>
          <p:nvPr/>
        </p:nvSpPr>
        <p:spPr>
          <a:xfrm>
            <a:off x="10334329" y="4087693"/>
            <a:ext cx="4683914" cy="0"/>
          </a:xfrm>
          <a:prstGeom prst="line">
            <a:avLst/>
          </a:prstGeom>
          <a:ln cap="flat" w="38100">
            <a:solidFill>
              <a:srgbClr val="DDC1A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334329" y="5626127"/>
            <a:ext cx="4683914" cy="0"/>
          </a:xfrm>
          <a:prstGeom prst="line">
            <a:avLst/>
          </a:prstGeom>
          <a:ln cap="flat" w="38100">
            <a:solidFill>
              <a:srgbClr val="DDC1A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334329" y="7167710"/>
            <a:ext cx="4683914" cy="0"/>
          </a:xfrm>
          <a:prstGeom prst="line">
            <a:avLst/>
          </a:prstGeom>
          <a:ln cap="flat" w="38100">
            <a:solidFill>
              <a:srgbClr val="DDC1A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8169658" y="4087693"/>
            <a:ext cx="2164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8169658" y="5626127"/>
            <a:ext cx="2164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8169658" y="7167710"/>
            <a:ext cx="2164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8169658" y="4215395"/>
            <a:ext cx="2164671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아키텍처 설계 경험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72430" y="2864224"/>
            <a:ext cx="5745219" cy="39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 RETROSPECTIVE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72430" y="2201557"/>
            <a:ext cx="5745219" cy="69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5"/>
              </a:lnSpc>
            </a:pPr>
            <a:r>
              <a:rPr lang="en-US" b="true" sz="4097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프로젝트 회고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19134" y="5197341"/>
            <a:ext cx="2364583" cy="845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7"/>
              </a:lnSpc>
            </a:pPr>
            <a:r>
              <a:rPr lang="en-US" b="true" sz="3297">
                <a:solidFill>
                  <a:srgbClr val="FFFFFF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AWS</a:t>
            </a:r>
          </a:p>
          <a:p>
            <a:pPr algn="ctr" marL="0" indent="0" lvl="0">
              <a:lnSpc>
                <a:spcPts val="3297"/>
              </a:lnSpc>
            </a:pPr>
            <a:r>
              <a:rPr lang="en-US" b="true" sz="3297">
                <a:solidFill>
                  <a:srgbClr val="FFFFFF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아키텍처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69658" y="5753830"/>
            <a:ext cx="2164671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향후 학습 계획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69658" y="7295413"/>
            <a:ext cx="2164671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핵심 역량 강화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34329" y="4198676"/>
            <a:ext cx="4855290" cy="94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AWS 서비스를 단순 사용에서 벗어나 보안, 네트워크,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고가용성, 멀티리전, 글로벌 서비스 측면에서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아키텍처 설계 및 구축 경험을 쌓았습니다.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34329" y="5737111"/>
            <a:ext cx="4855290" cy="94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IaC(Terraform)와 Kubernetes(EKS) 학습을 통해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클라우드 인프라 자동화 역량을 강화할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예정입니다.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34329" y="7278693"/>
            <a:ext cx="4855290" cy="94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VPC, TGW, WAF, RDS, CloudFront 등 다양한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AWS 서비스를 실전에서 활용하며 엔터프라이즈급</a:t>
            </a:r>
          </a:p>
          <a:p>
            <a:pPr algn="l" marL="0" indent="0" lvl="0">
              <a:lnSpc>
                <a:spcPts val="2518"/>
              </a:lnSpc>
            </a:pPr>
            <a:r>
              <a:rPr lang="en-US" sz="1798" spc="-71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금융 서비스 인프라 구축 역량을 확보했습니다.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" y="1285875"/>
            <a:ext cx="15744825" cy="7924800"/>
            <a:chOff x="0" y="0"/>
            <a:chExt cx="20993100" cy="1056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93100" cy="10566400"/>
            </a:xfrm>
            <a:custGeom>
              <a:avLst/>
              <a:gdLst/>
              <a:ahLst/>
              <a:cxnLst/>
              <a:rect r="r" b="b" t="t" l="l"/>
              <a:pathLst>
                <a:path h="10566400" w="20993100">
                  <a:moveTo>
                    <a:pt x="0" y="0"/>
                  </a:moveTo>
                  <a:lnTo>
                    <a:pt x="20993100" y="0"/>
                  </a:lnTo>
                  <a:lnTo>
                    <a:pt x="20993100" y="10566400"/>
                  </a:lnTo>
                  <a:lnTo>
                    <a:pt x="0" y="105664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1575" y="1085850"/>
            <a:ext cx="15744825" cy="7924800"/>
            <a:chOff x="0" y="0"/>
            <a:chExt cx="20993100" cy="1056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993100" cy="10566400"/>
            </a:xfrm>
            <a:custGeom>
              <a:avLst/>
              <a:gdLst/>
              <a:ahLst/>
              <a:cxnLst/>
              <a:rect r="r" b="b" t="t" l="l"/>
              <a:pathLst>
                <a:path h="10566400" w="20993100">
                  <a:moveTo>
                    <a:pt x="0" y="0"/>
                  </a:moveTo>
                  <a:lnTo>
                    <a:pt x="20993100" y="0"/>
                  </a:lnTo>
                  <a:lnTo>
                    <a:pt x="20993100" y="10566400"/>
                  </a:lnTo>
                  <a:lnTo>
                    <a:pt x="0" y="105664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AutoShape 6" id="6"/>
          <p:cNvSpPr/>
          <p:nvPr/>
        </p:nvSpPr>
        <p:spPr>
          <a:xfrm>
            <a:off x="1171575" y="1762125"/>
            <a:ext cx="15744825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3333750" y="4095750"/>
            <a:ext cx="1905000" cy="1905000"/>
            <a:chOff x="0" y="0"/>
            <a:chExt cx="2540000" cy="254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0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540000">
                  <a:moveTo>
                    <a:pt x="1270000" y="0"/>
                  </a:moveTo>
                  <a:cubicBezTo>
                    <a:pt x="568598" y="0"/>
                    <a:pt x="0" y="568598"/>
                    <a:pt x="0" y="1270000"/>
                  </a:cubicBezTo>
                  <a:cubicBezTo>
                    <a:pt x="0" y="1971402"/>
                    <a:pt x="568598" y="2540000"/>
                    <a:pt x="1270000" y="2540000"/>
                  </a:cubicBezTo>
                  <a:cubicBezTo>
                    <a:pt x="1971402" y="2540000"/>
                    <a:pt x="2540000" y="1971402"/>
                    <a:pt x="2540000" y="1270000"/>
                  </a:cubicBezTo>
                  <a:cubicBezTo>
                    <a:pt x="2540000" y="568598"/>
                    <a:pt x="1971402" y="0"/>
                    <a:pt x="1270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3524250" y="4629150"/>
            <a:ext cx="1524000" cy="88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47"/>
              </a:lnSpc>
              <a:spcBef>
                <a:spcPct val="0"/>
              </a:spcBef>
            </a:pPr>
            <a:r>
              <a:rPr lang="en-US" sz="3447" strike="noStrike" u="non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THANK</a:t>
            </a:r>
          </a:p>
          <a:p>
            <a:pPr algn="ctr" marL="0" indent="0" lvl="0">
              <a:lnSpc>
                <a:spcPts val="3447"/>
              </a:lnSpc>
              <a:spcBef>
                <a:spcPct val="0"/>
              </a:spcBef>
            </a:pPr>
            <a:r>
              <a:rPr lang="en-US" sz="3447" strike="noStrike" u="non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67450" y="2276475"/>
            <a:ext cx="5753100" cy="703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47"/>
              </a:lnSpc>
              <a:spcBef>
                <a:spcPct val="0"/>
              </a:spcBef>
            </a:pPr>
            <a:r>
              <a:rPr lang="en-US" b="true" sz="4176" strike="noStrike" u="non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감사합니다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67450" y="3019425"/>
            <a:ext cx="5753100" cy="38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2"/>
              </a:lnSpc>
              <a:spcBef>
                <a:spcPct val="0"/>
              </a:spcBef>
            </a:pPr>
            <a:r>
              <a:rPr lang="en-US" sz="2301" strike="noStrike" u="none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THANK YOU FOR YOUR TIME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0" y="4229100"/>
            <a:ext cx="47625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김진호</a:t>
            </a:r>
          </a:p>
        </p:txBody>
      </p:sp>
      <p:sp>
        <p:nvSpPr>
          <p:cNvPr name="AutoShape 13" id="13"/>
          <p:cNvSpPr/>
          <p:nvPr/>
        </p:nvSpPr>
        <p:spPr>
          <a:xfrm>
            <a:off x="6667500" y="4762500"/>
            <a:ext cx="7620000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6667500" y="5010150"/>
            <a:ext cx="1905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Email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72500" y="5019675"/>
            <a:ext cx="38100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windy1243@naver.com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0" y="5486400"/>
            <a:ext cx="190500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GitHub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0" y="5495925"/>
            <a:ext cx="38100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github.com/your-username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57750" y="7239000"/>
            <a:ext cx="85725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보안과 가용성을 갖춘 멀티리전 아키텍처를 직접 설계·구축합니다.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DAHLDCR30bY</dc:identifier>
  <dcterms:modified xsi:type="dcterms:W3CDTF">2011-08-01T06:04:30Z</dcterms:modified>
  <cp:revision>1</cp:revision>
  <dc:title>AWS 멀티리전 금융 서비스 아키텍처 PT</dc:title>
</cp:coreProperties>
</file>